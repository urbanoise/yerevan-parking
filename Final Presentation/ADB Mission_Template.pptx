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5162D5EE.xml" ContentType="application/vnd.ms-powerpoint.comments+xml"/>
  <Override PartName="/ppt/notesSlides/notesSlide3.xml" ContentType="application/vnd.openxmlformats-officedocument.presentationml.notesSlide+xml"/>
  <Override PartName="/ppt/comments/modernComment_78F_EBFAC9D3.xml" ContentType="application/vnd.ms-powerpoint.comments+xml"/>
  <Override PartName="/ppt/comments/modernComment_790_65CE377.xml" ContentType="application/vnd.ms-powerpoint.comment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15"/>
  </p:notesMasterIdLst>
  <p:handoutMasterIdLst>
    <p:handoutMasterId r:id="rId16"/>
  </p:handoutMasterIdLst>
  <p:sldIdLst>
    <p:sldId id="341" r:id="rId5"/>
    <p:sldId id="258" r:id="rId6"/>
    <p:sldId id="1749" r:id="rId7"/>
    <p:sldId id="1933" r:id="rId8"/>
    <p:sldId id="1935" r:id="rId9"/>
    <p:sldId id="1934" r:id="rId10"/>
    <p:sldId id="1936" r:id="rId11"/>
    <p:sldId id="1938" r:id="rId12"/>
    <p:sldId id="1937" r:id="rId13"/>
    <p:sldId id="360" r:id="rId14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341"/>
            <p14:sldId id="258"/>
            <p14:sldId id="1749"/>
            <p14:sldId id="1933"/>
            <p14:sldId id="1935"/>
            <p14:sldId id="1934"/>
            <p14:sldId id="1936"/>
            <p14:sldId id="1938"/>
            <p14:sldId id="1937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</pc:chgInfo>
</file>

<file path=ppt/comments/modernComment_78F_EBFAC9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226AE5-E123-4542-8980-D585EE3501CA}" authorId="{75EDCAE7-35A3-F4CD-5CE4-963BC683D3E6}" created="2026-07-13T20:30:15.494">
    <pc:sldMkLst xmlns:pc="http://schemas.microsoft.com/office/powerpoint/2013/main/command">
      <pc:docMk/>
      <pc:sldMk cId="3959081427" sldId="1935"/>
    </pc:sldMkLst>
    <p188:txBody>
      <a:bodyPr/>
      <a:lstStyle/>
      <a:p>
        <a:r>
          <a:rPr lang="en-US"/>
          <a:t>Text in red must be replaced according to your instructions.</a:t>
        </a:r>
      </a:p>
    </p188:txBody>
  </p188:cm>
  <p188:cm id="{736327EF-A3ED-4F72-85B5-D2B215CAAA3B}" authorId="{75EDCAE7-35A3-F4CD-5CE4-963BC683D3E6}" created="2026-07-13T20:31:09.196">
    <pc:sldMkLst xmlns:pc="http://schemas.microsoft.com/office/powerpoint/2013/main/command">
      <pc:docMk/>
      <pc:sldMk cId="3959081427" sldId="1935"/>
    </pc:sldMkLst>
    <p188:txBody>
      <a:bodyPr/>
      <a:lstStyle/>
      <a:p>
        <a:r>
          <a:rPr lang="en-US"/>
          <a:t>This slide must be repeated and updated whenever the content changes.</a:t>
        </a:r>
      </a:p>
    </p188:txBody>
  </p188:cm>
</p188:cmLst>
</file>

<file path=ppt/comments/modernComment_102_5162D5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8A85EC-C5D8-41CB-8D4A-F74878B216A6}" authorId="{75EDCAE7-35A3-F4CD-5CE4-963BC683D3E6}" created="2026-07-13T20:27:30.682">
    <pc:sldMkLst xmlns:pc="http://schemas.microsoft.com/office/powerpoint/2013/main/command">
      <pc:docMk/>
      <pc:sldMk cId="1365431790" sldId="258"/>
    </pc:sldMkLst>
    <p188:txBody>
      <a:bodyPr/>
      <a:lstStyle/>
      <a:p>
        <a:r>
          <a:rPr lang="en-US"/>
          <a:t>Text in red must be replaced according to your instructions.</a:t>
        </a:r>
      </a:p>
    </p188:txBody>
  </p188:cm>
  <p188:cm id="{EF8B2E53-CCB1-4B68-A8D3-C112BBA9EB7F}" authorId="{75EDCAE7-35A3-F4CD-5CE4-963BC683D3E6}" created="2026-07-13T20:30:37.187">
    <pc:sldMkLst xmlns:pc="http://schemas.microsoft.com/office/powerpoint/2013/main/command">
      <pc:docMk/>
      <pc:sldMk cId="1365431790" sldId="258"/>
    </pc:sldMkLst>
    <p188:txBody>
      <a:bodyPr/>
      <a:lstStyle/>
      <a:p>
        <a:r>
          <a:rPr lang="en-US"/>
          <a:t>This slide must be repeated and updated whenever the content changes.</a:t>
        </a:r>
      </a:p>
    </p188:txBody>
  </p188:cm>
</p188:cmLst>
</file>

<file path=ppt/comments/modernComment_790_65CE3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2554D6-EE5E-416A-9F75-A7F34CE36EF6}" authorId="{75EDCAE7-35A3-F4CD-5CE4-963BC683D3E6}" created="2026-07-13T20:39:10.804">
    <pc:sldMkLst xmlns:pc="http://schemas.microsoft.com/office/powerpoint/2013/main/command">
      <pc:docMk/>
      <pc:sldMk cId="106750839" sldId="1936"/>
    </pc:sldMkLst>
    <p188:txBody>
      <a:bodyPr/>
      <a:lstStyle/>
      <a:p>
        <a:r>
          <a:rPr lang="en-US"/>
          <a:t>Text in red must be replaced according to your instructions.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9A728-BE9F-B845-935D-82CFAE1641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606D8-F930-905E-60BE-E4BDE60E3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5B6A6-2D1E-405B-814F-CBA40FD47C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34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771B-79AD-DC12-0ADE-FEAB6A5D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2DD5C-7227-2EE8-CD0A-ECB6640FD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29A4C-CED7-C233-1C78-D25EAA97C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E3D2A-47C5-7B69-1834-E8B66759F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5B6A6-2D1E-405B-814F-CBA40FD47C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3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9A728-BE9F-B845-935D-82CFAE1641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13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5162D5EE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8F_EBFAC9D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90_65CE37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4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69;p1">
            <a:extLst>
              <a:ext uri="{FF2B5EF4-FFF2-40B4-BE49-F238E27FC236}">
                <a16:creationId xmlns:a16="http://schemas.microsoft.com/office/drawing/2014/main" id="{BE312CC5-4B4E-C943-8025-DC39EF6E70D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 amt="60000"/>
          </a:blip>
          <a:srcRect l="2682" t="29552" r="116" b="-273"/>
          <a:stretch/>
        </p:blipFill>
        <p:spPr>
          <a:xfrm>
            <a:off x="0" y="219075"/>
            <a:ext cx="914400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0;p1">
            <a:extLst>
              <a:ext uri="{FF2B5EF4-FFF2-40B4-BE49-F238E27FC236}">
                <a16:creationId xmlns:a16="http://schemas.microsoft.com/office/drawing/2014/main" id="{D660B04F-8931-334C-BDED-179104FC50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853" y="187895"/>
            <a:ext cx="1025531" cy="116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1;p1">
            <a:extLst>
              <a:ext uri="{FF2B5EF4-FFF2-40B4-BE49-F238E27FC236}">
                <a16:creationId xmlns:a16="http://schemas.microsoft.com/office/drawing/2014/main" id="{D01BEF1C-AB68-4B4C-B170-68056AA069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9350" y="487918"/>
            <a:ext cx="761869" cy="628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7FC4B7-B2A3-C74E-89AC-7894756BDE57}"/>
              </a:ext>
            </a:extLst>
          </p:cNvPr>
          <p:cNvSpPr/>
          <p:nvPr/>
        </p:nvSpPr>
        <p:spPr>
          <a:xfrm>
            <a:off x="51954" y="5029199"/>
            <a:ext cx="9060872" cy="103910"/>
          </a:xfrm>
          <a:prstGeom prst="rect">
            <a:avLst/>
          </a:prstGeom>
          <a:solidFill>
            <a:srgbClr val="5C49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72;p1">
            <a:extLst>
              <a:ext uri="{FF2B5EF4-FFF2-40B4-BE49-F238E27FC236}">
                <a16:creationId xmlns:a16="http://schemas.microsoft.com/office/drawing/2014/main" id="{8675A091-0CBA-324B-AFBD-84E878D9AD7D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lang="en-US"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D2FAB-CB9D-365A-35AD-788F7F19EA25}"/>
              </a:ext>
            </a:extLst>
          </p:cNvPr>
          <p:cNvSpPr txBox="1"/>
          <p:nvPr/>
        </p:nvSpPr>
        <p:spPr>
          <a:xfrm>
            <a:off x="601569" y="1053882"/>
            <a:ext cx="7940861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  <a:ea typeface="Roboto Slab"/>
                <a:cs typeface="Roboto Slab"/>
              </a:rPr>
              <a:t>YEREVAN SUSTAINABLE </a:t>
            </a:r>
            <a:br>
              <a:rPr lang="en-US" sz="4000" b="1" dirty="0">
                <a:solidFill>
                  <a:schemeClr val="bg1"/>
                </a:solidFill>
                <a:latin typeface="+mj-lt"/>
                <a:ea typeface="Roboto Slab"/>
                <a:cs typeface="Roboto Slab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  <a:ea typeface="Roboto Slab"/>
                <a:cs typeface="Roboto Slab"/>
              </a:rPr>
              <a:t>URBAN TRANSPORT &amp; </a:t>
            </a:r>
            <a:br>
              <a:rPr lang="en-US" sz="4000" b="1" dirty="0">
                <a:solidFill>
                  <a:schemeClr val="bg1"/>
                </a:solidFill>
                <a:latin typeface="+mj-lt"/>
                <a:ea typeface="Roboto Slab"/>
                <a:cs typeface="Roboto Slab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  <a:ea typeface="Roboto Slab"/>
                <a:cs typeface="Roboto Slab"/>
              </a:rPr>
              <a:t>ELECTRIC MOBILITY PROJECT</a:t>
            </a:r>
            <a:endParaRPr lang="ru-RU" sz="4000" dirty="0">
              <a:solidFill>
                <a:srgbClr val="000000"/>
              </a:solidFill>
              <a:latin typeface="+mj-lt"/>
              <a:ea typeface="Roboto Slab"/>
              <a:cs typeface="Roboto Slab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F2BCC-8FC3-AEB8-D6E0-44C72F1EE524}"/>
              </a:ext>
            </a:extLst>
          </p:cNvPr>
          <p:cNvSpPr txBox="1"/>
          <p:nvPr/>
        </p:nvSpPr>
        <p:spPr>
          <a:xfrm>
            <a:off x="665925" y="3326260"/>
            <a:ext cx="743426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Task XX – </a:t>
            </a:r>
            <a:r>
              <a:rPr lang="en-US" sz="1600" b="1" dirty="0" err="1">
                <a:solidFill>
                  <a:srgbClr val="FFFFFF"/>
                </a:solidFill>
                <a:latin typeface="Arial"/>
                <a:cs typeface="Arial"/>
              </a:rPr>
              <a:t>xxxx</a:t>
            </a:r>
            <a:endParaRPr lang="en-US" sz="1600" b="1" dirty="0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 sz="1350" b="1" dirty="0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 sz="1350" b="1" dirty="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July </a:t>
            </a:r>
            <a:r>
              <a:rPr lang="en-US" sz="1100" b="1" dirty="0">
                <a:solidFill>
                  <a:srgbClr val="FF0000"/>
                </a:solidFill>
                <a:latin typeface="Arial"/>
                <a:cs typeface="Arial"/>
              </a:rPr>
              <a:t>XX</a:t>
            </a:r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, 2026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94441F-E29D-97C5-F8B1-D20A19F59228}"/>
              </a:ext>
            </a:extLst>
          </p:cNvPr>
          <p:cNvCxnSpPr>
            <a:cxnSpLocks/>
          </p:cNvCxnSpPr>
          <p:nvPr/>
        </p:nvCxnSpPr>
        <p:spPr>
          <a:xfrm>
            <a:off x="721282" y="3219569"/>
            <a:ext cx="24079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02C4B-F8F9-72A6-2AEB-6CCFFE4601F3}"/>
              </a:ext>
            </a:extLst>
          </p:cNvPr>
          <p:cNvSpPr/>
          <p:nvPr/>
        </p:nvSpPr>
        <p:spPr>
          <a:xfrm>
            <a:off x="51954" y="5029199"/>
            <a:ext cx="9060872" cy="103910"/>
          </a:xfrm>
          <a:prstGeom prst="rect">
            <a:avLst/>
          </a:prstGeom>
          <a:solidFill>
            <a:srgbClr val="5C49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A5B1A2-1B7A-BF31-B755-E463CD7392FA}"/>
              </a:ext>
            </a:extLst>
          </p:cNvPr>
          <p:cNvSpPr/>
          <p:nvPr/>
        </p:nvSpPr>
        <p:spPr>
          <a:xfrm>
            <a:off x="51954" y="5029199"/>
            <a:ext cx="9060872" cy="103910"/>
          </a:xfrm>
          <a:prstGeom prst="rect">
            <a:avLst/>
          </a:prstGeom>
          <a:solidFill>
            <a:srgbClr val="5C49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5" name="Picture 24" descr="A yellow rectangular flag with a blue and red emblem&#10;&#10;Description automatically generated">
            <a:extLst>
              <a:ext uri="{FF2B5EF4-FFF2-40B4-BE49-F238E27FC236}">
                <a16:creationId xmlns:a16="http://schemas.microsoft.com/office/drawing/2014/main" id="{645E6992-3FB6-D6E7-7E6C-A25AD25C5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690" y="4500486"/>
            <a:ext cx="9149057" cy="643014"/>
          </a:xfrm>
          <a:prstGeom prst="rect">
            <a:avLst/>
          </a:prstGeom>
        </p:spPr>
      </p:pic>
      <p:pic>
        <p:nvPicPr>
          <p:cNvPr id="27" name="Рисунок 1">
            <a:extLst>
              <a:ext uri="{FF2B5EF4-FFF2-40B4-BE49-F238E27FC236}">
                <a16:creationId xmlns:a16="http://schemas.microsoft.com/office/drawing/2014/main" id="{F9C7E85E-E60A-2D88-737C-29C91B10E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518" y="4634302"/>
            <a:ext cx="1185528" cy="349608"/>
          </a:xfrm>
          <a:prstGeom prst="rect">
            <a:avLst/>
          </a:prstGeom>
        </p:spPr>
      </p:pic>
      <p:pic>
        <p:nvPicPr>
          <p:cNvPr id="29" name="Рисунок 17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06EAA2-C7B2-5787-67C0-3B0B031F96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6645" y="4633296"/>
            <a:ext cx="1216743" cy="37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4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8484-EEDF-E3FD-C61B-F4F6D670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1D124B"/>
                </a:solidFill>
                <a:latin typeface="+mj-lt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F169-6586-1EE7-69EE-01DD28E728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90496" y="847412"/>
            <a:ext cx="6116638" cy="33448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Project Components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[Main theme(s) of the Task]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Final Considerations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80B6-50CA-DC7E-BAAF-B598EC19AC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4317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9D9C6B2-182D-D33F-D644-1D589E5E180F}"/>
              </a:ext>
            </a:extLst>
          </p:cNvPr>
          <p:cNvSpPr/>
          <p:nvPr/>
        </p:nvSpPr>
        <p:spPr>
          <a:xfrm>
            <a:off x="6035755" y="3532127"/>
            <a:ext cx="2764551" cy="9210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BB0936-7C6E-282C-835E-2B0A2D5A912E}"/>
              </a:ext>
            </a:extLst>
          </p:cNvPr>
          <p:cNvSpPr/>
          <p:nvPr/>
        </p:nvSpPr>
        <p:spPr>
          <a:xfrm>
            <a:off x="6044170" y="1228918"/>
            <a:ext cx="2764550" cy="12805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BF5BD5-F021-3A8A-FC45-233CA9249907}"/>
              </a:ext>
            </a:extLst>
          </p:cNvPr>
          <p:cNvSpPr/>
          <p:nvPr/>
        </p:nvSpPr>
        <p:spPr>
          <a:xfrm>
            <a:off x="313321" y="1223748"/>
            <a:ext cx="2715630" cy="145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Grupo 49">
            <a:extLst>
              <a:ext uri="{FF2B5EF4-FFF2-40B4-BE49-F238E27FC236}">
                <a16:creationId xmlns:a16="http://schemas.microsoft.com/office/drawing/2014/main" id="{FDAF342A-7583-F844-8700-4518EE00056B}"/>
              </a:ext>
            </a:extLst>
          </p:cNvPr>
          <p:cNvGrpSpPr/>
          <p:nvPr/>
        </p:nvGrpSpPr>
        <p:grpSpPr>
          <a:xfrm>
            <a:off x="3162718" y="847797"/>
            <a:ext cx="2574723" cy="2574723"/>
            <a:chOff x="4548187" y="1884117"/>
            <a:chExt cx="3089764" cy="3089764"/>
          </a:xfrm>
        </p:grpSpPr>
        <p:sp>
          <p:nvSpPr>
            <p:cNvPr id="6" name="Elipse 44">
              <a:extLst>
                <a:ext uri="{FF2B5EF4-FFF2-40B4-BE49-F238E27FC236}">
                  <a16:creationId xmlns:a16="http://schemas.microsoft.com/office/drawing/2014/main" id="{22CCE7F0-D0A7-86D1-D0E2-4166DA82E6D7}"/>
                </a:ext>
              </a:extLst>
            </p:cNvPr>
            <p:cNvSpPr/>
            <p:nvPr/>
          </p:nvSpPr>
          <p:spPr>
            <a:xfrm>
              <a:off x="4548187" y="1884117"/>
              <a:ext cx="3089764" cy="30897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Elipse 4">
              <a:extLst>
                <a:ext uri="{FF2B5EF4-FFF2-40B4-BE49-F238E27FC236}">
                  <a16:creationId xmlns:a16="http://schemas.microsoft.com/office/drawing/2014/main" id="{9EE69AD5-C5AE-527C-06F5-4B41218CF3B6}"/>
                </a:ext>
              </a:extLst>
            </p:cNvPr>
            <p:cNvSpPr/>
            <p:nvPr/>
          </p:nvSpPr>
          <p:spPr>
            <a:xfrm>
              <a:off x="4872402" y="2208332"/>
              <a:ext cx="2441331" cy="2441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b="1" noProof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Project </a:t>
              </a:r>
            </a:p>
            <a:p>
              <a:pPr algn="ctr"/>
              <a:r>
                <a:rPr lang="es-MX" sz="1200" noProof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Main Components</a:t>
              </a:r>
            </a:p>
          </p:txBody>
        </p:sp>
        <p:sp>
          <p:nvSpPr>
            <p:cNvPr id="8" name="Arco 13">
              <a:extLst>
                <a:ext uri="{FF2B5EF4-FFF2-40B4-BE49-F238E27FC236}">
                  <a16:creationId xmlns:a16="http://schemas.microsoft.com/office/drawing/2014/main" id="{BE74C9E4-B829-6128-FD29-81E2A400951B}"/>
                </a:ext>
              </a:extLst>
            </p:cNvPr>
            <p:cNvSpPr/>
            <p:nvPr/>
          </p:nvSpPr>
          <p:spPr>
            <a:xfrm>
              <a:off x="4724399" y="2057398"/>
              <a:ext cx="2743203" cy="2743208"/>
            </a:xfrm>
            <a:prstGeom prst="arc">
              <a:avLst>
                <a:gd name="adj1" fmla="val 16417710"/>
                <a:gd name="adj2" fmla="val 2041458"/>
              </a:avLst>
            </a:prstGeom>
            <a:noFill/>
            <a:ln w="165100">
              <a:solidFill>
                <a:srgbClr val="3A979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highlight>
                  <a:srgbClr val="3A979E"/>
                </a:highlight>
              </a:endParaRPr>
            </a:p>
          </p:txBody>
        </p:sp>
        <p:sp>
          <p:nvSpPr>
            <p:cNvPr id="13" name="Arco 28">
              <a:extLst>
                <a:ext uri="{FF2B5EF4-FFF2-40B4-BE49-F238E27FC236}">
                  <a16:creationId xmlns:a16="http://schemas.microsoft.com/office/drawing/2014/main" id="{D984F632-FA8E-478B-0E83-0F26F51514BA}"/>
                </a:ext>
              </a:extLst>
            </p:cNvPr>
            <p:cNvSpPr/>
            <p:nvPr/>
          </p:nvSpPr>
          <p:spPr>
            <a:xfrm flipH="1">
              <a:off x="4724397" y="2057399"/>
              <a:ext cx="2743203" cy="2743203"/>
            </a:xfrm>
            <a:prstGeom prst="arc">
              <a:avLst>
                <a:gd name="adj1" fmla="val 16237836"/>
                <a:gd name="adj2" fmla="val 1190555"/>
              </a:avLst>
            </a:prstGeom>
            <a:noFill/>
            <a:ln w="165100">
              <a:solidFill>
                <a:srgbClr val="A3D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Arco 29">
              <a:extLst>
                <a:ext uri="{FF2B5EF4-FFF2-40B4-BE49-F238E27FC236}">
                  <a16:creationId xmlns:a16="http://schemas.microsoft.com/office/drawing/2014/main" id="{E8ACBEF5-6692-B777-972D-0CD07E1162D6}"/>
                </a:ext>
              </a:extLst>
            </p:cNvPr>
            <p:cNvSpPr/>
            <p:nvPr/>
          </p:nvSpPr>
          <p:spPr>
            <a:xfrm flipH="1">
              <a:off x="4724398" y="2057398"/>
              <a:ext cx="2743203" cy="2743203"/>
            </a:xfrm>
            <a:prstGeom prst="arc">
              <a:avLst>
                <a:gd name="adj1" fmla="val 1340545"/>
                <a:gd name="adj2" fmla="val 8583860"/>
              </a:avLst>
            </a:prstGeom>
            <a:noFill/>
            <a:ln w="165100">
              <a:solidFill>
                <a:srgbClr val="AEBD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339C1C1-2D49-50DF-17BA-36C4BF249848}"/>
              </a:ext>
            </a:extLst>
          </p:cNvPr>
          <p:cNvSpPr txBox="1"/>
          <p:nvPr/>
        </p:nvSpPr>
        <p:spPr>
          <a:xfrm>
            <a:off x="281266" y="418316"/>
            <a:ext cx="3086100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>
                <a:latin typeface="+mj-lt"/>
                <a:ea typeface="Roboto Slab" pitchFamily="2" charset="0"/>
                <a:cs typeface="Roboto Slab" pitchFamily="2" charset="0"/>
              </a:rPr>
              <a:t>Block 1</a:t>
            </a:r>
          </a:p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System Design &amp; Technical Foundations</a:t>
            </a:r>
            <a:endParaRPr lang="en-US" sz="1600" kern="1200">
              <a:latin typeface="+mj-lt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843B5-2ED8-CD01-677A-F93F18DEF5A7}"/>
              </a:ext>
            </a:extLst>
          </p:cNvPr>
          <p:cNvSpPr txBox="1"/>
          <p:nvPr/>
        </p:nvSpPr>
        <p:spPr>
          <a:xfrm>
            <a:off x="0" y="1223746"/>
            <a:ext cx="2958630" cy="145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1 – Service Plan for the Bus Priority Corridors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2 – Conceptual Design for Two Bus Priority </a:t>
            </a:r>
            <a:r>
              <a:rPr lang="en-US" sz="11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C</a:t>
            </a: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orridors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</a:t>
            </a:r>
            <a:r>
              <a:rPr lang="en-US" sz="11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3 – Traffic and Parking Analysis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4 – Conceptual Design and Upgrading for Two </a:t>
            </a:r>
            <a:r>
              <a:rPr lang="en-US" sz="11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B</a:t>
            </a: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us Depots</a:t>
            </a:r>
          </a:p>
        </p:txBody>
      </p:sp>
      <p:cxnSp>
        <p:nvCxnSpPr>
          <p:cNvPr id="22" name="Conector recto 97">
            <a:extLst>
              <a:ext uri="{FF2B5EF4-FFF2-40B4-BE49-F238E27FC236}">
                <a16:creationId xmlns:a16="http://schemas.microsoft.com/office/drawing/2014/main" id="{E028BE6D-6DCE-AF7F-A8B2-A82062E62B78}"/>
              </a:ext>
            </a:extLst>
          </p:cNvPr>
          <p:cNvCxnSpPr>
            <a:cxnSpLocks/>
          </p:cNvCxnSpPr>
          <p:nvPr/>
        </p:nvCxnSpPr>
        <p:spPr>
          <a:xfrm flipV="1">
            <a:off x="3806117" y="682422"/>
            <a:ext cx="0" cy="647102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100">
            <a:extLst>
              <a:ext uri="{FF2B5EF4-FFF2-40B4-BE49-F238E27FC236}">
                <a16:creationId xmlns:a16="http://schemas.microsoft.com/office/drawing/2014/main" id="{20D59F01-A213-E967-856A-282F9DBFF1F9}"/>
              </a:ext>
            </a:extLst>
          </p:cNvPr>
          <p:cNvCxnSpPr>
            <a:cxnSpLocks/>
          </p:cNvCxnSpPr>
          <p:nvPr/>
        </p:nvCxnSpPr>
        <p:spPr>
          <a:xfrm flipH="1">
            <a:off x="371707" y="682422"/>
            <a:ext cx="343441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9C586E-36E1-5637-F89C-89A30D06D541}"/>
              </a:ext>
            </a:extLst>
          </p:cNvPr>
          <p:cNvSpPr txBox="1"/>
          <p:nvPr/>
        </p:nvSpPr>
        <p:spPr>
          <a:xfrm>
            <a:off x="5968714" y="348963"/>
            <a:ext cx="3086100" cy="92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>
                <a:latin typeface="+mj-lt"/>
                <a:ea typeface="Roboto Slab" pitchFamily="2" charset="0"/>
                <a:cs typeface="Roboto Slab" pitchFamily="2" charset="0"/>
              </a:rPr>
              <a:t>Block 2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Strategy, Safeguards 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&amp; Financial Planning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C421B1-A978-7081-764D-171B35B819A8}"/>
              </a:ext>
            </a:extLst>
          </p:cNvPr>
          <p:cNvSpPr txBox="1"/>
          <p:nvPr/>
        </p:nvSpPr>
        <p:spPr>
          <a:xfrm>
            <a:off x="5802964" y="1223746"/>
            <a:ext cx="2952341" cy="12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5 – Communications and Branding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6 – Safeguards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</a:t>
            </a:r>
            <a:r>
              <a:rPr lang="en-US" sz="11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7 – Economic and Financial Analysis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8 – Procurement Planning</a:t>
            </a:r>
          </a:p>
        </p:txBody>
      </p:sp>
      <p:cxnSp>
        <p:nvCxnSpPr>
          <p:cNvPr id="33" name="Conector recto 100">
            <a:extLst>
              <a:ext uri="{FF2B5EF4-FFF2-40B4-BE49-F238E27FC236}">
                <a16:creationId xmlns:a16="http://schemas.microsoft.com/office/drawing/2014/main" id="{7CF11075-E2E4-DDB1-3C18-173FCB037F47}"/>
              </a:ext>
            </a:extLst>
          </p:cNvPr>
          <p:cNvCxnSpPr>
            <a:cxnSpLocks/>
          </p:cNvCxnSpPr>
          <p:nvPr/>
        </p:nvCxnSpPr>
        <p:spPr>
          <a:xfrm flipH="1">
            <a:off x="5399473" y="654702"/>
            <a:ext cx="28896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97">
            <a:extLst>
              <a:ext uri="{FF2B5EF4-FFF2-40B4-BE49-F238E27FC236}">
                <a16:creationId xmlns:a16="http://schemas.microsoft.com/office/drawing/2014/main" id="{A52396AD-3456-4DEF-331A-A52AE73ADE43}"/>
              </a:ext>
            </a:extLst>
          </p:cNvPr>
          <p:cNvCxnSpPr>
            <a:cxnSpLocks/>
          </p:cNvCxnSpPr>
          <p:nvPr/>
        </p:nvCxnSpPr>
        <p:spPr>
          <a:xfrm flipV="1">
            <a:off x="5399473" y="654702"/>
            <a:ext cx="0" cy="814434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E55F0B4-44F3-9960-7F36-064EEB7E610A}"/>
              </a:ext>
            </a:extLst>
          </p:cNvPr>
          <p:cNvSpPr txBox="1"/>
          <p:nvPr/>
        </p:nvSpPr>
        <p:spPr>
          <a:xfrm>
            <a:off x="5802964" y="3565210"/>
            <a:ext cx="3230134" cy="88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9 – Climate Change Assessment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10 – Poverty, Social and Gender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</a:t>
            </a:r>
            <a:r>
              <a:rPr lang="en-US" sz="11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11 – Institutional Assessment and Capacity Building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B94AC8-695A-58BF-3010-7E53DCC073DC}"/>
              </a:ext>
            </a:extLst>
          </p:cNvPr>
          <p:cNvSpPr txBox="1"/>
          <p:nvPr/>
        </p:nvSpPr>
        <p:spPr>
          <a:xfrm>
            <a:off x="5968714" y="2706441"/>
            <a:ext cx="3230134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>
                <a:latin typeface="+mj-lt"/>
                <a:ea typeface="Roboto Slab" pitchFamily="2" charset="0"/>
                <a:cs typeface="Roboto Slab" pitchFamily="2" charset="0"/>
              </a:rPr>
              <a:t>Block 3</a:t>
            </a:r>
          </a:p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Cross Cutting Themes &amp; Institutional Strengthening</a:t>
            </a:r>
            <a:endParaRPr lang="en-US" sz="1600" b="0" kern="1200">
              <a:latin typeface="+mj-lt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42" name="Conector recto 100">
            <a:extLst>
              <a:ext uri="{FF2B5EF4-FFF2-40B4-BE49-F238E27FC236}">
                <a16:creationId xmlns:a16="http://schemas.microsoft.com/office/drawing/2014/main" id="{3E503930-B687-1426-8F0B-0793E8DB2229}"/>
              </a:ext>
            </a:extLst>
          </p:cNvPr>
          <p:cNvCxnSpPr>
            <a:cxnSpLocks/>
          </p:cNvCxnSpPr>
          <p:nvPr/>
        </p:nvCxnSpPr>
        <p:spPr>
          <a:xfrm flipH="1">
            <a:off x="5151120" y="3006866"/>
            <a:ext cx="36576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4999E0-D4B2-5A23-EAA3-D0A8253330BA}"/>
              </a:ext>
            </a:extLst>
          </p:cNvPr>
          <p:cNvSpPr txBox="1">
            <a:spLocks/>
          </p:cNvSpPr>
          <p:nvPr/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BFE52-3BB4-4AB6-B43E-EA2DA6E89D9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8C279-F9E6-8AC4-D880-C2F23DA491FF}"/>
              </a:ext>
            </a:extLst>
          </p:cNvPr>
          <p:cNvSpPr txBox="1"/>
          <p:nvPr/>
        </p:nvSpPr>
        <p:spPr>
          <a:xfrm>
            <a:off x="0" y="-7016"/>
            <a:ext cx="4601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+mj-lt"/>
              </a:rPr>
              <a:t>Project Components</a:t>
            </a:r>
          </a:p>
        </p:txBody>
      </p:sp>
    </p:spTree>
    <p:extLst>
      <p:ext uri="{BB962C8B-B14F-4D97-AF65-F5344CB8AC3E}">
        <p14:creationId xmlns:p14="http://schemas.microsoft.com/office/powerpoint/2010/main" val="380572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820FBD-5A2A-493E-DA17-760D87929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7D6F1B0-AA80-183E-CD2C-CA31B84D2483}"/>
              </a:ext>
            </a:extLst>
          </p:cNvPr>
          <p:cNvSpPr/>
          <p:nvPr/>
        </p:nvSpPr>
        <p:spPr>
          <a:xfrm>
            <a:off x="6035755" y="3532127"/>
            <a:ext cx="2764551" cy="921018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DE5760-B353-ADE3-4C8A-EB559A624DDC}"/>
              </a:ext>
            </a:extLst>
          </p:cNvPr>
          <p:cNvSpPr/>
          <p:nvPr/>
        </p:nvSpPr>
        <p:spPr>
          <a:xfrm>
            <a:off x="6044170" y="1228918"/>
            <a:ext cx="2764550" cy="12805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942BF6-17FA-9C16-EAFB-03C4DE63C782}"/>
              </a:ext>
            </a:extLst>
          </p:cNvPr>
          <p:cNvSpPr/>
          <p:nvPr/>
        </p:nvSpPr>
        <p:spPr>
          <a:xfrm>
            <a:off x="313321" y="1223748"/>
            <a:ext cx="2715630" cy="145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Grupo 49">
            <a:extLst>
              <a:ext uri="{FF2B5EF4-FFF2-40B4-BE49-F238E27FC236}">
                <a16:creationId xmlns:a16="http://schemas.microsoft.com/office/drawing/2014/main" id="{D4E17AF3-07AB-5F2A-BC6D-2A7101B76322}"/>
              </a:ext>
            </a:extLst>
          </p:cNvPr>
          <p:cNvGrpSpPr/>
          <p:nvPr/>
        </p:nvGrpSpPr>
        <p:grpSpPr>
          <a:xfrm>
            <a:off x="3162718" y="847797"/>
            <a:ext cx="2574723" cy="2574723"/>
            <a:chOff x="4548187" y="1884117"/>
            <a:chExt cx="3089764" cy="3089764"/>
          </a:xfrm>
        </p:grpSpPr>
        <p:sp>
          <p:nvSpPr>
            <p:cNvPr id="6" name="Elipse 44">
              <a:extLst>
                <a:ext uri="{FF2B5EF4-FFF2-40B4-BE49-F238E27FC236}">
                  <a16:creationId xmlns:a16="http://schemas.microsoft.com/office/drawing/2014/main" id="{48797B7C-6C71-03E1-13A5-A0940DB912AB}"/>
                </a:ext>
              </a:extLst>
            </p:cNvPr>
            <p:cNvSpPr/>
            <p:nvPr/>
          </p:nvSpPr>
          <p:spPr>
            <a:xfrm>
              <a:off x="4548187" y="1884117"/>
              <a:ext cx="3089764" cy="30897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noProof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Elipse 4">
              <a:extLst>
                <a:ext uri="{FF2B5EF4-FFF2-40B4-BE49-F238E27FC236}">
                  <a16:creationId xmlns:a16="http://schemas.microsoft.com/office/drawing/2014/main" id="{D287C757-B62B-5662-F9BE-C41A4ECC3850}"/>
                </a:ext>
              </a:extLst>
            </p:cNvPr>
            <p:cNvSpPr/>
            <p:nvPr/>
          </p:nvSpPr>
          <p:spPr>
            <a:xfrm>
              <a:off x="4872402" y="2208332"/>
              <a:ext cx="2441331" cy="2441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b="1" noProof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Project </a:t>
              </a:r>
            </a:p>
            <a:p>
              <a:pPr algn="ctr"/>
              <a:r>
                <a:rPr lang="es-MX" sz="1200" noProof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Main Components</a:t>
              </a:r>
            </a:p>
          </p:txBody>
        </p:sp>
        <p:sp>
          <p:nvSpPr>
            <p:cNvPr id="8" name="Arco 13">
              <a:extLst>
                <a:ext uri="{FF2B5EF4-FFF2-40B4-BE49-F238E27FC236}">
                  <a16:creationId xmlns:a16="http://schemas.microsoft.com/office/drawing/2014/main" id="{D84D69BD-C6EF-0ED5-97F0-39721009B701}"/>
                </a:ext>
              </a:extLst>
            </p:cNvPr>
            <p:cNvSpPr/>
            <p:nvPr/>
          </p:nvSpPr>
          <p:spPr>
            <a:xfrm>
              <a:off x="4724399" y="2057398"/>
              <a:ext cx="2743203" cy="2743208"/>
            </a:xfrm>
            <a:prstGeom prst="arc">
              <a:avLst>
                <a:gd name="adj1" fmla="val 16417710"/>
                <a:gd name="adj2" fmla="val 2041458"/>
              </a:avLst>
            </a:prstGeom>
            <a:noFill/>
            <a:ln w="165100">
              <a:solidFill>
                <a:srgbClr val="3A979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highlight>
                  <a:srgbClr val="3A979E"/>
                </a:highlight>
              </a:endParaRPr>
            </a:p>
          </p:txBody>
        </p:sp>
        <p:sp>
          <p:nvSpPr>
            <p:cNvPr id="13" name="Arco 28">
              <a:extLst>
                <a:ext uri="{FF2B5EF4-FFF2-40B4-BE49-F238E27FC236}">
                  <a16:creationId xmlns:a16="http://schemas.microsoft.com/office/drawing/2014/main" id="{F1537366-EBBE-82F7-2C29-239EC56F0C5C}"/>
                </a:ext>
              </a:extLst>
            </p:cNvPr>
            <p:cNvSpPr/>
            <p:nvPr/>
          </p:nvSpPr>
          <p:spPr>
            <a:xfrm flipH="1">
              <a:off x="4724397" y="2057399"/>
              <a:ext cx="2743203" cy="2743203"/>
            </a:xfrm>
            <a:prstGeom prst="arc">
              <a:avLst>
                <a:gd name="adj1" fmla="val 16237836"/>
                <a:gd name="adj2" fmla="val 1190555"/>
              </a:avLst>
            </a:prstGeom>
            <a:noFill/>
            <a:ln w="165100">
              <a:solidFill>
                <a:srgbClr val="A3D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Arco 29">
              <a:extLst>
                <a:ext uri="{FF2B5EF4-FFF2-40B4-BE49-F238E27FC236}">
                  <a16:creationId xmlns:a16="http://schemas.microsoft.com/office/drawing/2014/main" id="{ECB332A7-BE2C-6184-BE79-E152F9E6FB1A}"/>
                </a:ext>
              </a:extLst>
            </p:cNvPr>
            <p:cNvSpPr/>
            <p:nvPr/>
          </p:nvSpPr>
          <p:spPr>
            <a:xfrm flipH="1">
              <a:off x="4724398" y="2057398"/>
              <a:ext cx="2743203" cy="2743203"/>
            </a:xfrm>
            <a:prstGeom prst="arc">
              <a:avLst>
                <a:gd name="adj1" fmla="val 1340545"/>
                <a:gd name="adj2" fmla="val 8583860"/>
              </a:avLst>
            </a:prstGeom>
            <a:noFill/>
            <a:ln w="165100">
              <a:solidFill>
                <a:srgbClr val="AEBD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4ED6AB7-3EA5-6D6A-5F81-AD8290876F0F}"/>
              </a:ext>
            </a:extLst>
          </p:cNvPr>
          <p:cNvSpPr txBox="1"/>
          <p:nvPr/>
        </p:nvSpPr>
        <p:spPr>
          <a:xfrm>
            <a:off x="281266" y="418316"/>
            <a:ext cx="3086100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latin typeface="+mj-lt"/>
                <a:ea typeface="Roboto Slab" pitchFamily="2" charset="0"/>
                <a:cs typeface="Roboto Slab" pitchFamily="2" charset="0"/>
              </a:rPr>
              <a:t>Block 1</a:t>
            </a:r>
          </a:p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dirty="0">
                <a:latin typeface="+mj-lt"/>
                <a:ea typeface="Roboto Slab" pitchFamily="2" charset="0"/>
                <a:cs typeface="Roboto Slab" pitchFamily="2" charset="0"/>
              </a:rPr>
              <a:t>System Design &amp; Technical Foundations</a:t>
            </a:r>
            <a:endParaRPr lang="en-US" sz="1600" kern="1200" dirty="0">
              <a:latin typeface="+mj-lt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D67B7C-7890-E86F-A46C-A68FF04DF258}"/>
              </a:ext>
            </a:extLst>
          </p:cNvPr>
          <p:cNvSpPr txBox="1"/>
          <p:nvPr/>
        </p:nvSpPr>
        <p:spPr>
          <a:xfrm>
            <a:off x="0" y="1223746"/>
            <a:ext cx="2958630" cy="145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1 – Service Plan for the Bus Priority Corridors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2 – Conceptual Design for Two Bus Priority </a:t>
            </a:r>
            <a:r>
              <a:rPr lang="en-US" sz="11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C</a:t>
            </a: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orridors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</a:t>
            </a:r>
            <a:r>
              <a:rPr lang="en-US" sz="11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3 – Traffic and Parking Analysis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4 – Conceptual Design and Upgrading for Two </a:t>
            </a:r>
            <a:r>
              <a:rPr lang="en-US" sz="11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B</a:t>
            </a:r>
            <a:r>
              <a:rPr lang="en-US" sz="1100" b="0" kern="120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us Depots</a:t>
            </a:r>
          </a:p>
        </p:txBody>
      </p:sp>
      <p:cxnSp>
        <p:nvCxnSpPr>
          <p:cNvPr id="22" name="Conector recto 97">
            <a:extLst>
              <a:ext uri="{FF2B5EF4-FFF2-40B4-BE49-F238E27FC236}">
                <a16:creationId xmlns:a16="http://schemas.microsoft.com/office/drawing/2014/main" id="{F9F7AD3A-32D3-3EA6-0865-6887ECD831BC}"/>
              </a:ext>
            </a:extLst>
          </p:cNvPr>
          <p:cNvCxnSpPr>
            <a:cxnSpLocks/>
          </p:cNvCxnSpPr>
          <p:nvPr/>
        </p:nvCxnSpPr>
        <p:spPr>
          <a:xfrm flipV="1">
            <a:off x="3806117" y="682422"/>
            <a:ext cx="0" cy="647102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100">
            <a:extLst>
              <a:ext uri="{FF2B5EF4-FFF2-40B4-BE49-F238E27FC236}">
                <a16:creationId xmlns:a16="http://schemas.microsoft.com/office/drawing/2014/main" id="{6BC29101-8600-F856-E71D-B76A5430DDDD}"/>
              </a:ext>
            </a:extLst>
          </p:cNvPr>
          <p:cNvCxnSpPr>
            <a:cxnSpLocks/>
          </p:cNvCxnSpPr>
          <p:nvPr/>
        </p:nvCxnSpPr>
        <p:spPr>
          <a:xfrm flipH="1">
            <a:off x="371707" y="682422"/>
            <a:ext cx="343441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577373-3F59-1300-0A3A-6D1CEFCFB692}"/>
              </a:ext>
            </a:extLst>
          </p:cNvPr>
          <p:cNvSpPr txBox="1"/>
          <p:nvPr/>
        </p:nvSpPr>
        <p:spPr>
          <a:xfrm>
            <a:off x="5968714" y="348963"/>
            <a:ext cx="3086100" cy="92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>
                <a:latin typeface="+mj-lt"/>
                <a:ea typeface="Roboto Slab" pitchFamily="2" charset="0"/>
                <a:cs typeface="Roboto Slab" pitchFamily="2" charset="0"/>
              </a:rPr>
              <a:t>Block 2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Strategy, Safeguards </a:t>
            </a:r>
          </a:p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&amp; Financial Planning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3437AC-4E73-E42E-83A6-35A5006DD9C5}"/>
              </a:ext>
            </a:extLst>
          </p:cNvPr>
          <p:cNvSpPr txBox="1"/>
          <p:nvPr/>
        </p:nvSpPr>
        <p:spPr>
          <a:xfrm>
            <a:off x="5802964" y="1223746"/>
            <a:ext cx="2952341" cy="12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5 – Communications and Branding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6 – Safeguards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</a:t>
            </a:r>
            <a:r>
              <a:rPr lang="en-US" sz="11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7 – Economic and Financial Analysis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8 – Procurement Planning</a:t>
            </a:r>
          </a:p>
        </p:txBody>
      </p:sp>
      <p:cxnSp>
        <p:nvCxnSpPr>
          <p:cNvPr id="33" name="Conector recto 100">
            <a:extLst>
              <a:ext uri="{FF2B5EF4-FFF2-40B4-BE49-F238E27FC236}">
                <a16:creationId xmlns:a16="http://schemas.microsoft.com/office/drawing/2014/main" id="{3F6519BB-83AF-88B7-2F9B-D87098ECB532}"/>
              </a:ext>
            </a:extLst>
          </p:cNvPr>
          <p:cNvCxnSpPr>
            <a:cxnSpLocks/>
          </p:cNvCxnSpPr>
          <p:nvPr/>
        </p:nvCxnSpPr>
        <p:spPr>
          <a:xfrm flipH="1">
            <a:off x="5399473" y="654702"/>
            <a:ext cx="28896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97">
            <a:extLst>
              <a:ext uri="{FF2B5EF4-FFF2-40B4-BE49-F238E27FC236}">
                <a16:creationId xmlns:a16="http://schemas.microsoft.com/office/drawing/2014/main" id="{1F2347C0-96D2-6139-3DA0-672616C4B29E}"/>
              </a:ext>
            </a:extLst>
          </p:cNvPr>
          <p:cNvCxnSpPr>
            <a:cxnSpLocks/>
          </p:cNvCxnSpPr>
          <p:nvPr/>
        </p:nvCxnSpPr>
        <p:spPr>
          <a:xfrm flipV="1">
            <a:off x="5399473" y="654702"/>
            <a:ext cx="0" cy="814434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AA7D1F4-D767-3766-2E10-C80539AAA301}"/>
              </a:ext>
            </a:extLst>
          </p:cNvPr>
          <p:cNvSpPr txBox="1"/>
          <p:nvPr/>
        </p:nvSpPr>
        <p:spPr>
          <a:xfrm>
            <a:off x="5802964" y="3565210"/>
            <a:ext cx="3230134" cy="88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1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9 – Climate Change Assessment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10 – Poverty, Social and Gender</a:t>
            </a:r>
          </a:p>
          <a:p>
            <a:pPr marL="285750" lvl="0" indent="-285750" defTabSz="8890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sz="1100" b="0" kern="12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Task </a:t>
            </a:r>
            <a:r>
              <a:rPr lang="en-US" sz="1100" dirty="0">
                <a:solidFill>
                  <a:schemeClr val="tx1"/>
                </a:solidFill>
                <a:ea typeface="Roboto Slab" pitchFamily="2" charset="0"/>
                <a:cs typeface="Roboto Slab" pitchFamily="2" charset="0"/>
              </a:rPr>
              <a:t>11 – Institutional Assessment and Capacity Building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1E83CB-F39C-3E94-551D-4C22C80430B3}"/>
              </a:ext>
            </a:extLst>
          </p:cNvPr>
          <p:cNvSpPr txBox="1"/>
          <p:nvPr/>
        </p:nvSpPr>
        <p:spPr>
          <a:xfrm>
            <a:off x="5968714" y="2706441"/>
            <a:ext cx="3230134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>
                <a:latin typeface="+mj-lt"/>
                <a:ea typeface="Roboto Slab" pitchFamily="2" charset="0"/>
                <a:cs typeface="Roboto Slab" pitchFamily="2" charset="0"/>
              </a:rPr>
              <a:t>Block 3</a:t>
            </a:r>
          </a:p>
          <a:p>
            <a:pPr marL="0" lvl="0" indent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>
                <a:latin typeface="+mj-lt"/>
                <a:ea typeface="Roboto Slab" pitchFamily="2" charset="0"/>
                <a:cs typeface="Roboto Slab" pitchFamily="2" charset="0"/>
              </a:rPr>
              <a:t>Cross Cutting Themes &amp; Institutional Strengthening</a:t>
            </a:r>
            <a:endParaRPr lang="en-US" sz="1600" b="0" kern="1200">
              <a:latin typeface="+mj-lt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42" name="Conector recto 100">
            <a:extLst>
              <a:ext uri="{FF2B5EF4-FFF2-40B4-BE49-F238E27FC236}">
                <a16:creationId xmlns:a16="http://schemas.microsoft.com/office/drawing/2014/main" id="{3EDF422A-9034-79D6-FBF7-21933E2B6411}"/>
              </a:ext>
            </a:extLst>
          </p:cNvPr>
          <p:cNvCxnSpPr>
            <a:cxnSpLocks/>
          </p:cNvCxnSpPr>
          <p:nvPr/>
        </p:nvCxnSpPr>
        <p:spPr>
          <a:xfrm flipH="1">
            <a:off x="5151120" y="3006866"/>
            <a:ext cx="36576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D9AB090-4A77-79D8-9B5F-CC5DCA61CCAA}"/>
              </a:ext>
            </a:extLst>
          </p:cNvPr>
          <p:cNvSpPr txBox="1">
            <a:spLocks/>
          </p:cNvSpPr>
          <p:nvPr/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BFE52-3BB4-4AB6-B43E-EA2DA6E89D9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5B9EF-2E42-C7C3-09EE-4D7AE6947F6B}"/>
              </a:ext>
            </a:extLst>
          </p:cNvPr>
          <p:cNvSpPr txBox="1"/>
          <p:nvPr/>
        </p:nvSpPr>
        <p:spPr>
          <a:xfrm>
            <a:off x="0" y="-7016"/>
            <a:ext cx="4601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+mj-lt"/>
              </a:rPr>
              <a:t>Project Components</a:t>
            </a:r>
          </a:p>
        </p:txBody>
      </p:sp>
    </p:spTree>
    <p:extLst>
      <p:ext uri="{BB962C8B-B14F-4D97-AF65-F5344CB8AC3E}">
        <p14:creationId xmlns:p14="http://schemas.microsoft.com/office/powerpoint/2010/main" val="5148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A8B4-21D6-9BB2-E528-870903D6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BD4E-5EDC-A37E-9118-9FC715EA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1D124B"/>
                </a:solidFill>
                <a:latin typeface="+mj-lt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3363F-6D49-5959-3654-657D95CC3E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90496" y="847412"/>
            <a:ext cx="6116638" cy="33448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Project Components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[Main theme(s) of the Task]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Final Considerations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8F33-9983-E0C2-25EE-928DDB0E2F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81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D192-458A-B198-B6AA-76C8519C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8060C08-2738-8066-1853-98F63F0048BF}"/>
              </a:ext>
            </a:extLst>
          </p:cNvPr>
          <p:cNvSpPr txBox="1">
            <a:spLocks/>
          </p:cNvSpPr>
          <p:nvPr/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BFE52-3BB4-4AB6-B43E-EA2DA6E89D9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473154-D45D-900D-44D7-0C66A2EC1DEB}"/>
              </a:ext>
            </a:extLst>
          </p:cNvPr>
          <p:cNvSpPr txBox="1">
            <a:spLocks/>
          </p:cNvSpPr>
          <p:nvPr/>
        </p:nvSpPr>
        <p:spPr>
          <a:xfrm>
            <a:off x="215811" y="416051"/>
            <a:ext cx="8004175" cy="3079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002060"/>
                </a:solidFill>
                <a:ea typeface="Roboto Slab"/>
                <a:cs typeface="Roboto Slab"/>
              </a:rPr>
              <a:t>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CAABE-33A1-A6C3-3477-70B6FCE21F70}"/>
              </a:ext>
            </a:extLst>
          </p:cNvPr>
          <p:cNvSpPr txBox="1"/>
          <p:nvPr/>
        </p:nvSpPr>
        <p:spPr>
          <a:xfrm>
            <a:off x="245617" y="724026"/>
            <a:ext cx="8652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/>
              <a:t>xxxx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0BC72-3A4F-DF66-AA6D-4DCEAE5758BE}"/>
              </a:ext>
            </a:extLst>
          </p:cNvPr>
          <p:cNvSpPr txBox="1"/>
          <p:nvPr/>
        </p:nvSpPr>
        <p:spPr>
          <a:xfrm>
            <a:off x="0" y="-7016"/>
            <a:ext cx="4601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+mj-lt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7582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3B52-5BAA-140A-A769-06F457CB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E63BDE-91B5-ECFA-DF18-E2DD8EFDEBEC}"/>
              </a:ext>
            </a:extLst>
          </p:cNvPr>
          <p:cNvSpPr txBox="1">
            <a:spLocks/>
          </p:cNvSpPr>
          <p:nvPr/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BFE52-3BB4-4AB6-B43E-EA2DA6E89D9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64AA11-3492-409F-065C-F6E0F36A7E9A}"/>
              </a:ext>
            </a:extLst>
          </p:cNvPr>
          <p:cNvSpPr txBox="1">
            <a:spLocks/>
          </p:cNvSpPr>
          <p:nvPr/>
        </p:nvSpPr>
        <p:spPr>
          <a:xfrm>
            <a:off x="215811" y="416051"/>
            <a:ext cx="8004175" cy="3079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002060"/>
                </a:solidFill>
                <a:ea typeface="Roboto Slab"/>
                <a:cs typeface="Roboto Slab"/>
              </a:rPr>
              <a:t>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78774-521C-535B-D7FF-E0EB92DED365}"/>
              </a:ext>
            </a:extLst>
          </p:cNvPr>
          <p:cNvSpPr txBox="1"/>
          <p:nvPr/>
        </p:nvSpPr>
        <p:spPr>
          <a:xfrm>
            <a:off x="245617" y="724026"/>
            <a:ext cx="7974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/>
              <a:t>xxxxx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89D18-DD27-52DC-9D67-DB0905428C19}"/>
              </a:ext>
            </a:extLst>
          </p:cNvPr>
          <p:cNvSpPr txBox="1"/>
          <p:nvPr/>
        </p:nvSpPr>
        <p:spPr>
          <a:xfrm>
            <a:off x="0" y="-7016"/>
            <a:ext cx="46013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FF0000"/>
                </a:solidFill>
              </a:rPr>
              <a:t>[Main theme(s) of the Task]</a:t>
            </a:r>
          </a:p>
        </p:txBody>
      </p:sp>
    </p:spTree>
    <p:extLst>
      <p:ext uri="{BB962C8B-B14F-4D97-AF65-F5344CB8AC3E}">
        <p14:creationId xmlns:p14="http://schemas.microsoft.com/office/powerpoint/2010/main" val="1067508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AA51-B0BB-B177-8608-0F0B54CA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528A006-7183-DA12-FF34-E232D1F25857}"/>
              </a:ext>
            </a:extLst>
          </p:cNvPr>
          <p:cNvSpPr txBox="1">
            <a:spLocks/>
          </p:cNvSpPr>
          <p:nvPr/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BFE52-3BB4-4AB6-B43E-EA2DA6E89D9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B364-08A1-A71E-1027-6BD8AF99AE45}"/>
              </a:ext>
            </a:extLst>
          </p:cNvPr>
          <p:cNvSpPr txBox="1">
            <a:spLocks/>
          </p:cNvSpPr>
          <p:nvPr/>
        </p:nvSpPr>
        <p:spPr>
          <a:xfrm>
            <a:off x="215811" y="416051"/>
            <a:ext cx="8004175" cy="3079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002060"/>
                </a:solidFill>
                <a:ea typeface="Roboto Slab"/>
                <a:cs typeface="Roboto Slab"/>
              </a:rPr>
              <a:t>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D626BA-EA1B-4330-FC7C-F1B0CDC00065}"/>
              </a:ext>
            </a:extLst>
          </p:cNvPr>
          <p:cNvSpPr txBox="1"/>
          <p:nvPr/>
        </p:nvSpPr>
        <p:spPr>
          <a:xfrm>
            <a:off x="245617" y="724026"/>
            <a:ext cx="7974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/>
              <a:t>xxxxx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E7419-8579-ADDD-2A7F-6D1FC7D40F6B}"/>
              </a:ext>
            </a:extLst>
          </p:cNvPr>
          <p:cNvSpPr txBox="1"/>
          <p:nvPr/>
        </p:nvSpPr>
        <p:spPr>
          <a:xfrm>
            <a:off x="0" y="-7016"/>
            <a:ext cx="4601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+mj-lt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97927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82D09-3B0B-8222-910D-A34635B4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3B2D86B-BFA1-5C4B-AD2B-11C7B074A29E}"/>
              </a:ext>
            </a:extLst>
          </p:cNvPr>
          <p:cNvSpPr txBox="1">
            <a:spLocks/>
          </p:cNvSpPr>
          <p:nvPr/>
        </p:nvSpPr>
        <p:spPr>
          <a:xfrm>
            <a:off x="8220075" y="4829175"/>
            <a:ext cx="923925" cy="27463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BFE52-3BB4-4AB6-B43E-EA2DA6E89D9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0BCCDF-946D-A060-11E0-40946761F1CA}"/>
              </a:ext>
            </a:extLst>
          </p:cNvPr>
          <p:cNvSpPr txBox="1">
            <a:spLocks/>
          </p:cNvSpPr>
          <p:nvPr/>
        </p:nvSpPr>
        <p:spPr>
          <a:xfrm>
            <a:off x="215811" y="416051"/>
            <a:ext cx="8004175" cy="3079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002060"/>
                </a:solidFill>
                <a:ea typeface="Roboto Slab"/>
                <a:cs typeface="Roboto Slab"/>
              </a:rPr>
              <a:t>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5CF92-A38E-A8A8-928D-C56C36A155E3}"/>
              </a:ext>
            </a:extLst>
          </p:cNvPr>
          <p:cNvSpPr txBox="1"/>
          <p:nvPr/>
        </p:nvSpPr>
        <p:spPr>
          <a:xfrm>
            <a:off x="0" y="-7016"/>
            <a:ext cx="4601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+mj-lt"/>
              </a:rPr>
              <a:t>Final Considerations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0CA59-4F4C-55CF-28D8-7927D673F187}"/>
              </a:ext>
            </a:extLst>
          </p:cNvPr>
          <p:cNvSpPr txBox="1"/>
          <p:nvPr/>
        </p:nvSpPr>
        <p:spPr>
          <a:xfrm>
            <a:off x="245617" y="724026"/>
            <a:ext cx="7974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/>
              <a:t>xxxxx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114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4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00B06B-BE02-1D44-B9D1-B0728BD95377}"/>
              </a:ext>
            </a:extLst>
          </p:cNvPr>
          <p:cNvGrpSpPr/>
          <p:nvPr/>
        </p:nvGrpSpPr>
        <p:grpSpPr>
          <a:xfrm>
            <a:off x="-5059" y="0"/>
            <a:ext cx="9149059" cy="5143500"/>
            <a:chOff x="-6745" y="-12701"/>
            <a:chExt cx="12198745" cy="6858000"/>
          </a:xfrm>
        </p:grpSpPr>
        <p:pic>
          <p:nvPicPr>
            <p:cNvPr id="7" name="Google Shape;69;p1">
              <a:extLst>
                <a:ext uri="{FF2B5EF4-FFF2-40B4-BE49-F238E27FC236}">
                  <a16:creationId xmlns:a16="http://schemas.microsoft.com/office/drawing/2014/main" id="{09D8DBC5-AE63-754F-B664-CDF12C87C32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50000"/>
            </a:blip>
            <a:srcRect l="2682" t="29552" r="116" b="-273"/>
            <a:stretch/>
          </p:blipFill>
          <p:spPr>
            <a:xfrm>
              <a:off x="-6745" y="-12701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72;p1">
              <a:extLst>
                <a:ext uri="{FF2B5EF4-FFF2-40B4-BE49-F238E27FC236}">
                  <a16:creationId xmlns:a16="http://schemas.microsoft.com/office/drawing/2014/main" id="{CE24DECD-C6BA-A240-BC25-3AB0F483B38D}"/>
                </a:ext>
              </a:extLst>
            </p:cNvPr>
            <p:cNvSpPr/>
            <p:nvPr/>
          </p:nvSpPr>
          <p:spPr>
            <a:xfrm>
              <a:off x="0" y="-12701"/>
              <a:ext cx="12192000" cy="357809"/>
            </a:xfrm>
            <a:prstGeom prst="rect">
              <a:avLst/>
            </a:prstGeom>
            <a:solidFill>
              <a:srgbClr val="AEBD58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D141D04-18C2-2D2F-A87A-05C192765CEF}"/>
              </a:ext>
            </a:extLst>
          </p:cNvPr>
          <p:cNvSpPr/>
          <p:nvPr/>
        </p:nvSpPr>
        <p:spPr>
          <a:xfrm>
            <a:off x="3336410" y="2176790"/>
            <a:ext cx="226066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/>
            <a:r>
              <a:rPr lang="en-US" sz="2800" b="1" dirty="0">
                <a:solidFill>
                  <a:schemeClr val="bg1"/>
                </a:solidFill>
                <a:latin typeface="+mj-lt"/>
                <a:ea typeface="Roboto Slab"/>
                <a:cs typeface="Roboto Slab"/>
              </a:rPr>
              <a:t>Thank you</a:t>
            </a:r>
            <a:endParaRPr lang="ru-RU" sz="2800" b="1" dirty="0">
              <a:solidFill>
                <a:schemeClr val="bg1"/>
              </a:solidFill>
              <a:latin typeface="+mj-lt"/>
              <a:ea typeface="Roboto Slab"/>
              <a:cs typeface="Roboto Slab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93D7F-6802-ABF7-7B57-5FB933FBFB6A}"/>
              </a:ext>
            </a:extLst>
          </p:cNvPr>
          <p:cNvSpPr/>
          <p:nvPr/>
        </p:nvSpPr>
        <p:spPr>
          <a:xfrm>
            <a:off x="51954" y="5029199"/>
            <a:ext cx="9060872" cy="103910"/>
          </a:xfrm>
          <a:prstGeom prst="rect">
            <a:avLst/>
          </a:prstGeom>
          <a:solidFill>
            <a:srgbClr val="5C49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6C3E3E-E2E3-CD20-5FE3-946217E92932}"/>
              </a:ext>
            </a:extLst>
          </p:cNvPr>
          <p:cNvSpPr/>
          <p:nvPr/>
        </p:nvSpPr>
        <p:spPr>
          <a:xfrm>
            <a:off x="51954" y="5029199"/>
            <a:ext cx="9060872" cy="103910"/>
          </a:xfrm>
          <a:prstGeom prst="rect">
            <a:avLst/>
          </a:prstGeom>
          <a:solidFill>
            <a:srgbClr val="5C49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7BBC5-066F-8355-70CA-E7A880B2F72C}"/>
              </a:ext>
            </a:extLst>
          </p:cNvPr>
          <p:cNvSpPr/>
          <p:nvPr/>
        </p:nvSpPr>
        <p:spPr>
          <a:xfrm>
            <a:off x="51954" y="5029199"/>
            <a:ext cx="9060872" cy="103910"/>
          </a:xfrm>
          <a:prstGeom prst="rect">
            <a:avLst/>
          </a:prstGeom>
          <a:solidFill>
            <a:srgbClr val="5C49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 descr="A yellow rectangular flag with a blue and red emblem&#10;&#10;Description automatically generated">
            <a:extLst>
              <a:ext uri="{FF2B5EF4-FFF2-40B4-BE49-F238E27FC236}">
                <a16:creationId xmlns:a16="http://schemas.microsoft.com/office/drawing/2014/main" id="{EA26749A-5861-EC25-90CF-F553FBD9F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90" y="4500486"/>
            <a:ext cx="9149057" cy="638665"/>
          </a:xfrm>
          <a:prstGeom prst="rect">
            <a:avLst/>
          </a:prstGeom>
        </p:spPr>
      </p:pic>
      <p:pic>
        <p:nvPicPr>
          <p:cNvPr id="18" name="Рисунок 1">
            <a:extLst>
              <a:ext uri="{FF2B5EF4-FFF2-40B4-BE49-F238E27FC236}">
                <a16:creationId xmlns:a16="http://schemas.microsoft.com/office/drawing/2014/main" id="{9C2D119D-D904-7734-9537-C2EA50262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518" y="4634302"/>
            <a:ext cx="1185528" cy="349608"/>
          </a:xfrm>
          <a:prstGeom prst="rect">
            <a:avLst/>
          </a:prstGeom>
        </p:spPr>
      </p:pic>
      <p:pic>
        <p:nvPicPr>
          <p:cNvPr id="20" name="Рисунок 17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7BDDB-FC0D-A88A-0183-2A7CB0376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645" y="4633296"/>
            <a:ext cx="1216743" cy="37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6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1161</TotalTime>
  <Words>310</Words>
  <Application>Microsoft Office PowerPoint</Application>
  <PresentationFormat>On-screen Show (16:9)</PresentationFormat>
  <Paragraphs>86</Paragraphs>
  <Slides>10</Slides>
  <Notes>4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  <vt:lpstr>Contents</vt:lpstr>
      <vt:lpstr>PowerPoint Presentation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Priscila Damasio</cp:lastModifiedBy>
  <cp:revision>1</cp:revision>
  <dcterms:created xsi:type="dcterms:W3CDTF">2021-02-26T09:11:37Z</dcterms:created>
  <dcterms:modified xsi:type="dcterms:W3CDTF">2026-07-14T21:08:23Z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