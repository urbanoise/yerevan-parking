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63" r:id="rId8"/>
    <p:sldId id="259" r:id="rId9"/>
    <p:sldId id="260" r:id="rId10"/>
    <p:sldId id="261" r:id="rId11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256"/>
            <p14:sldId id="257"/>
            <p14:sldId id="258"/>
            <p14:sldId id="263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23/07/2026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 Assessment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1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5394960" cy="123444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5394960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1563624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Our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837943"/>
            <a:ext cx="5175504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Analyse the existing parking system context along the priority corridors and in Yerevan as a whole.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Assess the impacts of the conceptual corridor designs on parking supply.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Evaluate the potential for parking displacement within the defined influence area.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Identify mitigation options and parking management measures that support corridor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" y="2761488"/>
            <a:ext cx="5394960" cy="162763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456" y="2761488"/>
            <a:ext cx="5394960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290779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What we did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3182112"/>
            <a:ext cx="5175504" cy="93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Parking Supply Survey — desk inventory from 360° video, satellite and Yandex imagery, with ~15% cross-checked physically in the field.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Parking Occupancy Survey — six representative areas, hourly license-plate sweeps, 07:00–24:00.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Off-street context — major facilities on the corridors catalogued to test their potential to absorb displaced demand.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All survey data published and explorable at </a:t>
            </a:r>
            <a:r>
              <a:rPr lang="en-US" sz="850" b="1" dirty="0">
                <a:solidFill>
                  <a:srgbClr val="1F1F1F"/>
                </a:solidFill>
                <a:latin typeface="Calibri"/>
              </a:rPr>
              <a:t>http://</a:t>
            </a:r>
            <a:r>
              <a:rPr sz="850" b="1" dirty="0">
                <a:solidFill>
                  <a:srgbClr val="1F1F1F"/>
                </a:solidFill>
                <a:latin typeface="Calibri"/>
              </a:rPr>
              <a:t>yerevan-parking</a:t>
            </a:r>
            <a:r>
              <a:rPr sz="850" b="1" i="0" dirty="0">
                <a:solidFill>
                  <a:srgbClr val="1F1F1F"/>
                </a:solidFill>
                <a:latin typeface="Calibri"/>
              </a:rPr>
              <a:t>.vercel.app</a:t>
            </a:r>
            <a:endParaRPr sz="850" b="0" i="0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15" name="Picture 14" descr="field_survey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417320"/>
            <a:ext cx="3017520" cy="28498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79008" y="42976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666666"/>
                </a:solidFill>
                <a:latin typeface="Calibri"/>
              </a:rPr>
              <a:t>Field occupancy survey areas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 Supply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Across Corridors 1 and 2 and 100 m buffer</a:t>
            </a:r>
            <a:endParaRPr sz="115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14,557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Total spaces inventoried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41448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7,825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across 606 segments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6,095</a:t>
            </a:r>
            <a:endParaRPr sz="2000" b="1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2020824"/>
            <a:ext cx="189280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/>
              </a:rPr>
              <a:t>On the corridors themselves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85432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5432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6,732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020824"/>
            <a:ext cx="189280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/>
              </a:rPr>
              <a:t>Off-street, across 239 facilities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2670048"/>
            <a:ext cx="87050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dirty="0">
                <a:solidFill>
                  <a:srgbClr val="1F1F1F"/>
                </a:solidFill>
                <a:latin typeface="Calibri"/>
              </a:rPr>
              <a:t>On-corridor on-street supply by regulatory zone (6,095 spaces)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" y="2926080"/>
            <a:ext cx="7495373" cy="274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14829" y="2926080"/>
            <a:ext cx="762677" cy="2743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77506" y="2926080"/>
            <a:ext cx="351345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28852" y="2926080"/>
            <a:ext cx="95691" cy="274320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9456" y="3328416"/>
            <a:ext cx="100584" cy="10058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Free / unregulated  5,248 (86.1%)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3328416"/>
            <a:ext cx="100584" cy="10058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1176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Zone B (blue) – paid  534 (8.8%)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28416"/>
            <a:ext cx="100584" cy="1005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7448" y="3300984"/>
            <a:ext cx="187451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Zone A (red) – paid  246 (4.0%)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3328416"/>
            <a:ext cx="100584" cy="100584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Taxi  67 (1.1%)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" y="3675887"/>
            <a:ext cx="8705088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9456" y="3675887"/>
            <a:ext cx="8705088" cy="411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" y="3822191"/>
            <a:ext cx="8485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1F1F1F"/>
                </a:solidFill>
                <a:latin typeface="Calibri"/>
              </a:rPr>
              <a:t>86% of corridor parking is free of charge — and barely organized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" y="4096511"/>
            <a:ext cx="8485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Only 20% has signage and 14% has markings. Zone A is concentrated in Kentron (Nalbandyan 69, Abovyan 46, Amiryan 43); Zone B is almost entirely Komitas Avenue (522 of 534).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 Occupancy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6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areas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|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hourly license-plate sweeps</a:t>
            </a:r>
            <a:r>
              <a:rPr lang="en-US" sz="1150" dirty="0">
                <a:solidFill>
                  <a:srgbClr val="666666"/>
                </a:solidFill>
                <a:latin typeface="Calibri"/>
              </a:rPr>
              <a:t> | 29 May - 3 June 2026 |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07:00–24:00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3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4443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Peak occupancy by surveyed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i="1" dirty="0">
                <a:solidFill>
                  <a:srgbClr val="666666"/>
                </a:solidFill>
                <a:latin typeface="Calibri"/>
              </a:rPr>
              <a:t>Peak occupancy = the total number of distinct vehicles recorded over the busiest hour ÷ the number of spaces (capacity-weighted). It is an hour-long count rather than a single snapshot, so a reading above 100% means more distinct vehicles than spaces used the </a:t>
            </a:r>
            <a:r>
              <a:rPr sz="800" i="1" dirty="0" err="1">
                <a:solidFill>
                  <a:srgbClr val="666666"/>
                </a:solidFill>
                <a:latin typeface="Calibri"/>
              </a:rPr>
              <a:t>kerb</a:t>
            </a:r>
            <a:r>
              <a:rPr sz="800" i="1" dirty="0">
                <a:solidFill>
                  <a:srgbClr val="666666"/>
                </a:solidFill>
                <a:latin typeface="Calibri"/>
              </a:rPr>
              <a:t> within that hour — the spaces turned 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417320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1417320"/>
            <a:ext cx="192938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527048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81965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Peak occupancy, capacity-weighted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59" y="1417320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95159" y="1417320"/>
            <a:ext cx="1929384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59" y="1527048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1.8h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81965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Average length of stay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386584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92040" y="2386584"/>
            <a:ext cx="1929384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2496312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5–11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78892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Vehicles per space per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386584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95159" y="2386584"/>
            <a:ext cx="192938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2496312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565C0"/>
                </a:solidFill>
                <a:latin typeface="Calibri"/>
              </a:rPr>
              <a:t>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78892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stays are one hour or 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383280"/>
            <a:ext cx="40325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How long vehicles stay</a:t>
            </a:r>
          </a:p>
        </p:txBody>
      </p:sp>
      <p:pic>
        <p:nvPicPr>
          <p:cNvPr id="27" name="Picture 26" descr="chart_st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529584"/>
            <a:ext cx="4032504" cy="806500"/>
          </a:xfrm>
          <a:prstGeom prst="rect">
            <a:avLst/>
          </a:prstGeom>
        </p:spPr>
      </p:pic>
      <p:pic>
        <p:nvPicPr>
          <p:cNvPr id="28" name="Picture 27" descr="chart_occupa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581912"/>
            <a:ext cx="4443984" cy="2356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Occupancy Survey Locations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4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297991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area_map_Ken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97991"/>
            <a:ext cx="280416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2440991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Kentron (Corridor 1 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7232" y="2440991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4D4D"/>
                </a:solidFill>
                <a:latin typeface="Calibri"/>
              </a:rPr>
              <a:t>138% peak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9920" y="1297991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2" name="Picture 11" descr="area_map_Gai_A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0" y="1297991"/>
            <a:ext cx="280416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61360" y="2440991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7696" y="2440991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4D4D"/>
                </a:solidFill>
                <a:latin typeface="Calibri"/>
              </a:rPr>
              <a:t>123% peak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384" y="1297991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6" name="Picture 15" descr="area_map_Komi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384" y="1297991"/>
            <a:ext cx="2804160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1824" y="2440991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Komitas Avenue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40991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4D4D"/>
                </a:solidFill>
                <a:latin typeface="Calibri"/>
              </a:rPr>
              <a:t>123% peak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2797607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0" name="Picture 19" descr="area_map_Garegin_Nzhde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" y="2797607"/>
            <a:ext cx="2804160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0896" y="3940606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7232" y="3940606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8A8A"/>
                </a:solidFill>
                <a:latin typeface="Calibri"/>
              </a:rPr>
              <a:t>92% peak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9920" y="2797607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4" name="Picture 23" descr="area_map_Shiraz_Hasrat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920" y="2797607"/>
            <a:ext cx="2804160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61360" y="3940606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7696" y="3940606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2ECC71"/>
                </a:solidFill>
                <a:latin typeface="Calibri"/>
              </a:rPr>
              <a:t>75% peak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384" y="2797607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8" name="Picture 27" descr="area_map_Malatia-Sebast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384" y="2797607"/>
            <a:ext cx="2804160" cy="10972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11824" y="3940606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940606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2ECC71"/>
                </a:solidFill>
                <a:latin typeface="Calibri"/>
              </a:rPr>
              <a:t>54% peak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" y="438912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Measured occupancy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4752" y="4421124"/>
            <a:ext cx="82296" cy="8229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≤85% — within capacity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4096" y="4421124"/>
            <a:ext cx="82296" cy="82296"/>
          </a:xfrm>
          <a:prstGeom prst="rect">
            <a:avLst/>
          </a:prstGeom>
          <a:solidFill>
            <a:srgbClr val="F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91256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86–100% — at capacity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26864" y="4421124"/>
            <a:ext cx="82296" cy="82296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64024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&gt;100% — over capacity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21124"/>
            <a:ext cx="82296" cy="82296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79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Off-street yard (dashed)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002060"/>
                </a:solidFill>
                <a:latin typeface="Calibri"/>
              </a:rPr>
              <a:t>Design 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Impact </a:t>
            </a:r>
            <a:r>
              <a:rPr lang="en-US" b="1" dirty="0">
                <a:solidFill>
                  <a:srgbClr val="002060"/>
                </a:solidFill>
                <a:latin typeface="Calibri"/>
              </a:rPr>
              <a:t>&amp;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D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isplacement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A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666666"/>
                </a:solidFill>
                <a:latin typeface="Calibri"/>
              </a:rPr>
              <a:t>The conceptual cross-section removes 80% of on-corridor parking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5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CORRIDORS 1 &amp; 2 · impact of the conceptual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2624" y="1417320"/>
            <a:ext cx="39319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Corridor 1: 1,480  ·  Corridor 2: 3,395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609344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" y="1719072"/>
            <a:ext cx="20391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b="1" dirty="0">
                <a:solidFill>
                  <a:srgbClr val="1F1F1F"/>
                </a:solidFill>
                <a:latin typeface="Calibri"/>
              </a:rPr>
              <a:t>6,095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on the corridors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1448" y="1609344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41448" y="1719072"/>
            <a:ext cx="20391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700" b="1" i="0" dirty="0">
                <a:solidFill>
                  <a:srgbClr val="C62828"/>
                </a:solidFill>
                <a:latin typeface="Calibri"/>
              </a:rPr>
              <a:t>4,875</a:t>
            </a:r>
            <a:endParaRPr sz="1700" b="1" i="0" dirty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14600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 spaces removed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609344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719072"/>
            <a:ext cx="20391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700" b="1" dirty="0">
                <a:solidFill>
                  <a:srgbClr val="C62828"/>
                </a:solidFill>
                <a:latin typeface="Calibri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on-corridor parking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85432" y="1609344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2" y="1719072"/>
            <a:ext cx="20391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700" b="1" dirty="0">
                <a:solidFill>
                  <a:srgbClr val="2E7D32"/>
                </a:solidFill>
                <a:latin typeface="Calibri"/>
              </a:rPr>
              <a:t>1,220</a:t>
            </a:r>
            <a:endParaRPr sz="17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58584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Retained or re-established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" y="2596896"/>
            <a:ext cx="8705088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" y="2688336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SIX SURVEYED AREAS ONLY · measured displacement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2688336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A demand overlay — not a re-survey of the full corridor</a:t>
            </a:r>
          </a:p>
        </p:txBody>
      </p:sp>
      <p:pic>
        <p:nvPicPr>
          <p:cNvPr id="44" name="Picture 43" descr="chart_dis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871216"/>
            <a:ext cx="3840480" cy="108013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261104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61104" y="2871216"/>
            <a:ext cx="1481328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4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62828"/>
                </a:solidFill>
                <a:latin typeface="Calibri"/>
              </a:rPr>
              <a:t>59%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vs. removed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52160" y="2871216"/>
            <a:ext cx="1481328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565C0"/>
                </a:solidFill>
                <a:latin typeface="Calibri"/>
              </a:rPr>
              <a:t>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Absorbed on-street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3216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43216" y="2871216"/>
            <a:ext cx="148132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43216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791F1F"/>
                </a:solidFill>
                <a:latin typeface="Calibri"/>
              </a:rPr>
              <a:t>92%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3474720"/>
            <a:ext cx="133502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dirty="0">
                <a:solidFill>
                  <a:srgbClr val="666666"/>
                </a:solidFill>
                <a:latin typeface="Calibri"/>
              </a:rPr>
              <a:t>Capacity </a:t>
            </a:r>
            <a:r>
              <a:rPr lang="en-US" sz="850" b="0" i="0" dirty="0">
                <a:solidFill>
                  <a:srgbClr val="666666"/>
                </a:solidFill>
                <a:latin typeface="Calibri"/>
              </a:rPr>
              <a:t>in off-street</a:t>
            </a:r>
            <a:endParaRPr sz="85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456" y="3986784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i="1" dirty="0">
                <a:solidFill>
                  <a:srgbClr val="666666"/>
                </a:solidFill>
                <a:latin typeface="Calibri"/>
              </a:rPr>
              <a:t>Displaced demand = distinct vehicles in the removed zones at each area's single busiest hour, summed across the six areas.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" y="4425696"/>
            <a:ext cx="870508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 dirty="0">
                <a:solidFill>
                  <a:srgbClr val="666666"/>
                </a:solidFill>
                <a:latin typeface="Calibri"/>
              </a:rPr>
              <a:t>The 59% is the displaced demand set against the spaces removed in the same six areas (1,120 vehicles ÷ 1,886 spaces): the kerb is not full at the moment, so fewer vehicles need re-homing than spaces are lost.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Mitigation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M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easures by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S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ensitivity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Z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one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s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666666"/>
                </a:solidFill>
                <a:latin typeface="Calibri"/>
              </a:rPr>
              <a:t>No single measure resolves displacement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 the package is applied selectively, by measured zone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6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5742432" cy="914400"/>
          </a:xfrm>
          <a:prstGeom prst="rect">
            <a:avLst/>
          </a:prstGeom>
          <a:solidFill>
            <a:srgbClr val="FCEBEB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45720" cy="914400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96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791F1F"/>
                </a:solidFill>
                <a:latin typeface="Calibri"/>
              </a:rPr>
              <a:t>HIGH SENSITIVITY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" y="2423160"/>
            <a:ext cx="5742432" cy="914400"/>
          </a:xfrm>
          <a:prstGeom prst="rect">
            <a:avLst/>
          </a:prstGeom>
          <a:solidFill>
            <a:srgbClr val="FDF3B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" y="2423160"/>
            <a:ext cx="45720" cy="914400"/>
          </a:xfrm>
          <a:prstGeom prst="rect">
            <a:avLst/>
          </a:prstGeom>
          <a:solidFill>
            <a:srgbClr val="F2A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946600"/>
                </a:solidFill>
                <a:latin typeface="Calibri"/>
              </a:rPr>
              <a:t>MEDIUM SENSITIVITY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3429000"/>
            <a:ext cx="5742432" cy="914400"/>
          </a:xfrm>
          <a:prstGeom prst="rect">
            <a:avLst/>
          </a:prstGeom>
          <a:solidFill>
            <a:srgbClr val="E1F5E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" y="3429000"/>
            <a:ext cx="45720" cy="914400"/>
          </a:xfrm>
          <a:prstGeom prst="rect">
            <a:avLst/>
          </a:prstGeom>
          <a:solidFill>
            <a:srgbClr val="085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51129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85041"/>
                </a:solidFill>
                <a:latin typeface="Calibri"/>
              </a:rPr>
              <a:t>LOWER SENSITIVITY</a:t>
            </a:r>
          </a:p>
        </p:txBody>
      </p:sp>
      <p:pic>
        <p:nvPicPr>
          <p:cNvPr id="22" name="Picture 21" descr="sensitiv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417320"/>
            <a:ext cx="2615184" cy="192000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44768" y="3410712"/>
            <a:ext cx="91440" cy="91440"/>
          </a:xfrm>
          <a:prstGeom prst="rect">
            <a:avLst/>
          </a:prstGeom>
          <a:solidFill>
            <a:srgbClr val="F2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410712"/>
            <a:ext cx="91440" cy="91440"/>
          </a:xfrm>
          <a:prstGeom prst="rect">
            <a:avLst/>
          </a:prstGeom>
          <a:solidFill>
            <a:srgbClr val="F2A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48855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410712"/>
            <a:ext cx="91440" cy="91440"/>
          </a:xfrm>
          <a:prstGeom prst="rect">
            <a:avLst/>
          </a:prstGeom>
          <a:solidFill>
            <a:srgbClr val="43F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0376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Lower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584448"/>
            <a:ext cx="2834640" cy="7315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35040" y="3584448"/>
            <a:ext cx="2834640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44768" y="37307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Exception — Gai Avenue (Mega Mall)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005072"/>
            <a:ext cx="26151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750" b="0" i="0" dirty="0" err="1">
                <a:solidFill>
                  <a:srgbClr val="1F1F1F"/>
                </a:solidFill>
                <a:latin typeface="Calibri"/>
              </a:rPr>
              <a:t>Kerb</a:t>
            </a:r>
            <a:r>
              <a:rPr sz="750" b="0" i="0" dirty="0">
                <a:solidFill>
                  <a:srgbClr val="1F1F1F"/>
                </a:solidFill>
                <a:latin typeface="Calibri"/>
              </a:rPr>
              <a:t> parking stays for now; revisit as the area changes </a:t>
            </a:r>
            <a:r>
              <a:rPr lang="en-US" sz="750" b="0" i="0" dirty="0">
                <a:solidFill>
                  <a:srgbClr val="1F1F1F"/>
                </a:solidFill>
                <a:latin typeface="Calibri"/>
              </a:rPr>
              <a:t>-</a:t>
            </a:r>
            <a:r>
              <a:rPr sz="750" b="0" i="0" dirty="0">
                <a:solidFill>
                  <a:srgbClr val="1F1F1F"/>
                </a:solidFill>
                <a:latin typeface="Calibri"/>
              </a:rPr>
              <a:t> mall parking or the planned BRT.</a:t>
            </a:r>
          </a:p>
        </p:txBody>
      </p:sp>
      <p:pic>
        <p:nvPicPr>
          <p:cNvPr id="33" name="Picture 32" descr="paid_791F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527048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89503" y="1563679"/>
            <a:ext cx="14173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dirty="0">
                <a:solidFill>
                  <a:srgbClr val="1F1F1F"/>
                </a:solidFill>
                <a:latin typeface="Calibri"/>
              </a:rPr>
              <a:t>Extend paid zone</a:t>
            </a:r>
            <a:r>
              <a:rPr lang="en-US" sz="950" dirty="0">
                <a:solidFill>
                  <a:srgbClr val="1F1F1F"/>
                </a:solidFill>
                <a:latin typeface="Calibri"/>
              </a:rPr>
              <a:t>s</a:t>
            </a:r>
            <a:endParaRPr sz="650" b="1" dirty="0">
              <a:solidFill>
                <a:srgbClr val="791F1F"/>
              </a:solidFill>
            </a:endParaRPr>
          </a:p>
        </p:txBody>
      </p:sp>
      <p:pic>
        <p:nvPicPr>
          <p:cNvPr id="35" name="Picture 34" descr="yards_791F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778507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89503" y="1815138"/>
            <a:ext cx="14173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dirty="0">
                <a:solidFill>
                  <a:srgbClr val="1F1F1F"/>
                </a:solidFill>
                <a:latin typeface="Calibri"/>
              </a:rPr>
              <a:t>Open residential yards</a:t>
            </a:r>
            <a:endParaRPr sz="650" b="1" dirty="0">
              <a:solidFill>
                <a:srgbClr val="791F1F"/>
              </a:solidFill>
            </a:endParaRPr>
          </a:p>
        </p:txBody>
      </p:sp>
      <p:pic>
        <p:nvPicPr>
          <p:cNvPr id="37" name="Picture 36" descr="delivery_791F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2029967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89503" y="200253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dirty="0">
                <a:solidFill>
                  <a:srgbClr val="1F1F1F"/>
                </a:solidFill>
                <a:latin typeface="Calibri"/>
              </a:rPr>
              <a:t>Delivery bays</a:t>
            </a:r>
          </a:p>
        </p:txBody>
      </p:sp>
      <p:pic>
        <p:nvPicPr>
          <p:cNvPr id="39" name="Picture 38" descr="permits_791F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28" y="1527048"/>
            <a:ext cx="219456" cy="21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98848" y="14996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Resident permits</a:t>
            </a:r>
          </a:p>
        </p:txBody>
      </p:sp>
      <p:pic>
        <p:nvPicPr>
          <p:cNvPr id="41" name="Picture 40" descr="caps_791F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1778507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498848" y="1815138"/>
            <a:ext cx="14173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dirty="0">
                <a:solidFill>
                  <a:srgbClr val="1F1F1F"/>
                </a:solidFill>
                <a:latin typeface="Calibri"/>
              </a:rPr>
              <a:t>Visitor cap</a:t>
            </a:r>
            <a:r>
              <a:rPr lang="en-US" sz="950" dirty="0">
                <a:solidFill>
                  <a:srgbClr val="1F1F1F"/>
                </a:solidFill>
                <a:latin typeface="Calibri"/>
              </a:rPr>
              <a:t>s</a:t>
            </a:r>
            <a:endParaRPr sz="650" b="1" dirty="0">
              <a:solidFill>
                <a:srgbClr val="791F1F"/>
              </a:solidFill>
            </a:endParaRPr>
          </a:p>
        </p:txBody>
      </p:sp>
      <p:pic>
        <p:nvPicPr>
          <p:cNvPr id="43" name="Picture 42" descr="paid_7A5A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5184" y="2532888"/>
            <a:ext cx="21945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89503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Extend paid zones</a:t>
            </a:r>
          </a:p>
        </p:txBody>
      </p:sp>
      <p:pic>
        <p:nvPicPr>
          <p:cNvPr id="45" name="Picture 44" descr="delivery_7A5A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5184" y="2784348"/>
            <a:ext cx="219456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889503" y="27569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Delivery bays</a:t>
            </a:r>
          </a:p>
        </p:txBody>
      </p:sp>
      <p:pic>
        <p:nvPicPr>
          <p:cNvPr id="49" name="Picture 48" descr="organise_08504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5184" y="3538728"/>
            <a:ext cx="219456" cy="21945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89503" y="3511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Organise free parking</a:t>
            </a:r>
          </a:p>
        </p:txBody>
      </p:sp>
      <p:pic>
        <p:nvPicPr>
          <p:cNvPr id="53" name="Picture 52" descr="yards_08504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184" y="3785615"/>
            <a:ext cx="219456" cy="21945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889503" y="37673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Open residential yards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Further studies and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Parking is a citywide system and cannot be sustainably managed at corridor level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7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8705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1F1F1F"/>
                </a:solidFill>
                <a:latin typeface="Calibri"/>
              </a:rPr>
              <a:t>This component is scoped to the BRT corridors and their immediate influence area. The measures proposed here should therefore be understood as the first stage of a broader, citywide reform.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1920240"/>
            <a:ext cx="4261104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920240"/>
            <a:ext cx="4261104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206654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Extend the approach citywide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340864"/>
            <a:ext cx="4041648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Extend the parking 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study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b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eyond the corridor buffer to a citywide scale.</a:t>
            </a:r>
          </a:p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Apply focused demand assessments at selected high-pressure locations, rather than corridor-wide observational surveys.</a:t>
            </a:r>
          </a:p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Progressively expand the red-line zonal system into </a:t>
            </a:r>
            <a:r>
              <a:rPr lang="en-US" sz="800" b="0" i="0" dirty="0" err="1">
                <a:solidFill>
                  <a:srgbClr val="1F1F1F"/>
                </a:solidFill>
                <a:latin typeface="Calibri"/>
              </a:rPr>
              <a:t>neighbourhoods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 currently outside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4261104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920240"/>
            <a:ext cx="426110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206654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Supporting studies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40864"/>
            <a:ext cx="4041648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Residential yard opening.</a:t>
            </a:r>
            <a:endParaRPr lang="en-US" sz="800" b="0" i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80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Legal basis of the resident permit scheme.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" y="3218688"/>
            <a:ext cx="8705088" cy="8412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" y="3218688"/>
            <a:ext cx="870508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" y="3364992"/>
            <a:ext cx="8485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Priority: who administers residential-yard opening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3639312"/>
            <a:ext cx="84856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The yards carry ~92% of the absorptive capacity that makes re-absorption work, yet no body currently owns the task. Who should lead it, and under what organisational and legal arrangement, warrants a dedicated study before any roll-out.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1320</TotalTime>
  <Words>875</Words>
  <Application>Microsoft Office PowerPoint</Application>
  <PresentationFormat>On-screen Show (16:9)</PresentationFormat>
  <Paragraphs>127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Nikoloz Archvadze</cp:lastModifiedBy>
  <cp:revision>23</cp:revision>
  <dcterms:created xsi:type="dcterms:W3CDTF">2021-02-26T09:11:37Z</dcterms:created>
  <dcterms:modified xsi:type="dcterms:W3CDTF">2026-07-23T15:41:27Z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