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15"/>
  </p:notesMasterIdLst>
  <p:handoutMasterIdLst>
    <p:handoutMasterId r:id="rId16"/>
  </p:handoutMasterIdLst>
  <p:sldIdLst>
    <p:sldId id="256" r:id="rId14"/>
    <p:sldId id="257" r:id="rId13"/>
    <p:sldId id="258" r:id="rId12"/>
    <p:sldId id="259" r:id="rId11"/>
    <p:sldId id="260" r:id="rId1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341"/>
            <p14:sldId id="258"/>
            <p14:sldId id="1749"/>
            <p14:sldId id="1933"/>
            <p14:sldId id="1935"/>
            <p14:sldId id="1934"/>
            <p14:sldId id="1936"/>
            <p14:sldId id="1938"/>
            <p14:sldId id="1937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4.xml"/><Relationship Id="rId12" Type="http://schemas.openxmlformats.org/officeDocument/2006/relationships/slide" Target="slides/slide3.xml"/><Relationship Id="rId13" Type="http://schemas.openxmlformats.org/officeDocument/2006/relationships/slide" Target="slides/slide2.xml"/><Relationship Id="rId14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Relationship Id="rId23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07/14/2026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7/14/2026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1.xml"/><Relationship Id="rId13" Type="http://schemas.openxmlformats.org/officeDocument/2006/relationships/oleObject" Target="../embeddings/oleObject1.bin"/><Relationship Id="rId14" Type="http://schemas.openxmlformats.org/officeDocument/2006/relationships/image" Target="../media/image1.emf"/><Relationship Id="rId15" Type="http://schemas.openxmlformats.org/officeDocument/2006/relationships/image" Target="../media/image2.png"/><Relationship Id="rId16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Parking: the demand side is now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Six representative areas surveyed 29 May – 3 June 2026 — occupancy, duration and turnover measured directly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39112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E7D32"/>
                </a:solidFill>
                <a:latin typeface="Calibri"/>
              </a:rP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Peak occupancy, capacity-weighted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41448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1448" y="1417320"/>
            <a:ext cx="2039112" cy="411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8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565C0"/>
                </a:solidFill>
                <a:latin typeface="Calibri"/>
              </a:rPr>
              <a:t>63%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Stay one hour or less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1417320"/>
            <a:ext cx="2039112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62828"/>
                </a:solidFill>
                <a:latin typeface="Calibr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demand vs. spaces removed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85432" y="1417320"/>
            <a:ext cx="2039112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85432" y="1417320"/>
            <a:ext cx="2039112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1563624"/>
            <a:ext cx="203911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1F1F1F"/>
                </a:solidFill>
                <a:latin typeface="Calibri"/>
              </a:rPr>
              <a:t>5–11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2020824"/>
            <a:ext cx="18928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Vehicles per space per 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" y="2615184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Vehicles parked, by hour of day — the kerb never empties between 09:00 and 22:00</a:t>
            </a:r>
          </a:p>
        </p:txBody>
      </p:sp>
      <p:pic>
        <p:nvPicPr>
          <p:cNvPr id="24" name="Picture 23" descr="chart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2798064"/>
            <a:ext cx="4736592" cy="1825561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5138928" y="2798064"/>
            <a:ext cx="3785615" cy="177393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798064"/>
            <a:ext cx="3785615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8656" y="2944368"/>
            <a:ext cx="35661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April  →  June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48656" y="3218688"/>
            <a:ext cx="3566159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Then: displacement inferred from European BHLS precedent.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Now: 908 cars displaced at the peak hour against 1,643 spaces removed — measured in Yerevan.</a:t>
            </a:r>
          </a:p>
          <a:p>
            <a:pPr algn="l">
              <a:spcAft>
                <a:spcPts val="7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Hourly licence-plate sweeps, 07:00–24:00, four working days.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Supply baseline and corridor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15,897 spaces surveyed; the conceptual design removes 85% of on-corridor parking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084831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084831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1563624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15,897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020824"/>
            <a:ext cx="19385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Total spaces surveyed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417320"/>
            <a:ext cx="2084831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1417320"/>
            <a:ext cx="2084831" cy="41148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1563624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1F1F1F"/>
                </a:solidFill>
                <a:latin typeface="Calibri"/>
              </a:rPr>
              <a:t>7,005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2020824"/>
            <a:ext cx="19385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On-street, on the corridors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" y="2569464"/>
            <a:ext cx="2084831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" y="2569464"/>
            <a:ext cx="2084831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" y="2715768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62828"/>
                </a:solidFill>
                <a:latin typeface="Calibri"/>
              </a:rPr>
              <a:t>5,953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" y="3172968"/>
            <a:ext cx="19385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Removed by the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569464"/>
            <a:ext cx="2084831" cy="106070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2569464"/>
            <a:ext cx="2084831" cy="411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2715768"/>
            <a:ext cx="2084831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1,052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172968"/>
            <a:ext cx="193852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Retained or re-established</a:t>
            </a:r>
          </a:p>
        </p:txBody>
      </p:sp>
      <p:pic>
        <p:nvPicPr>
          <p:cNvPr id="23" name="Picture 22" descr="app_re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417320"/>
            <a:ext cx="4261104" cy="22102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63440" y="3931920"/>
            <a:ext cx="42611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i="1">
                <a:solidFill>
                  <a:srgbClr val="666666"/>
                </a:solidFill>
                <a:latin typeface="Calibri"/>
              </a:rPr>
              <a:t>Parking Regulation — yerevan-parking.vercel.app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" y="3730752"/>
            <a:ext cx="4334256" cy="658368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19456" y="3730752"/>
            <a:ext cx="4334256" cy="411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" y="387705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88% of it is free — and unorganised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" y="4151376"/>
            <a:ext cx="4114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Only 20% has signage; 12% has markings.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" y="4462272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Removal is inherent to the central-median cross-section — 1,836 / 3,310 / 807 across Corridors 1–3.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A saturated kerb — but a short-stay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69% of zones sit above the 85% efficiency threshold at the peak, yet almost two-thirds of vehicles stay an hour or less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219456" y="1252728"/>
            <a:ext cx="4389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Peak occupancy by surveyed area</a:t>
            </a:r>
          </a:p>
        </p:txBody>
      </p:sp>
      <p:pic>
        <p:nvPicPr>
          <p:cNvPr id="8" name="Picture 7" descr="chart_occup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453896"/>
            <a:ext cx="4443984" cy="23562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1252728"/>
            <a:ext cx="3154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How long vehicles stay</a:t>
            </a:r>
          </a:p>
        </p:txBody>
      </p:sp>
      <p:pic>
        <p:nvPicPr>
          <p:cNvPr id="10" name="Picture 9" descr="chart_st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508760"/>
            <a:ext cx="4032504" cy="806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892040" y="2487168"/>
            <a:ext cx="4032504" cy="178308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2487168"/>
            <a:ext cx="4032504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1768" y="2633472"/>
            <a:ext cx="38130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What this rules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907792"/>
            <a:ext cx="3813048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Visitor caps address a problem the data does not show — turnover is already 5–11 vehicles per space per day.</a:t>
            </a:r>
          </a:p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All-day parking is only ~6%; overnight residential ~7%.</a:t>
            </a:r>
          </a:p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Pricing, not maximum-stay enforcement, is the binding lever.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" y="4407408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Occupancy above 100% is chronic overflow — more vehicles present than legal striped capacity. Only ~0.2% parked illegally: the issue is saturation, not illegality.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Displacement: measured, not inferred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Peak displaced demand is only 55% of the spaces removed — but re-absorption depends on opening gated yards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pic>
        <p:nvPicPr>
          <p:cNvPr id="7" name="Picture 6" descr="chart_dis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472184"/>
            <a:ext cx="4617720" cy="1298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9456" y="2798064"/>
            <a:ext cx="4617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F1F1F"/>
                </a:solidFill>
                <a:latin typeface="Calibri"/>
              </a:rPr>
              <a:t>Where those 908 cars can go</a:t>
            </a:r>
          </a:p>
        </p:txBody>
      </p:sp>
      <p:pic>
        <p:nvPicPr>
          <p:cNvPr id="9" name="Picture 8" descr="chart_absor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2999232"/>
            <a:ext cx="4617720" cy="843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74920" y="1417320"/>
            <a:ext cx="1828800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74920" y="1417320"/>
            <a:ext cx="1828800" cy="411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5636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C62828"/>
                </a:solidFill>
                <a:latin typeface="Calibri"/>
              </a:rPr>
              <a:t>55%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202082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Displaced vs. removed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5744" y="1417320"/>
            <a:ext cx="1828800" cy="118872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95744" y="1417320"/>
            <a:ext cx="1828800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95744" y="156362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400" b="1" i="0">
                <a:solidFill>
                  <a:srgbClr val="791F1F"/>
                </a:solidFill>
                <a:latin typeface="Calibri"/>
              </a:rPr>
              <a:t>92%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8896" y="2020824"/>
            <a:ext cx="168249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66666"/>
                </a:solidFill>
                <a:latin typeface="Calibri"/>
              </a:rPr>
              <a:t>Of absorptive capacity is behind gates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4920" y="2798064"/>
            <a:ext cx="3849624" cy="1463040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2798064"/>
            <a:ext cx="3849624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944368"/>
            <a:ext cx="36301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The condition attached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4648" y="3218688"/>
            <a:ext cx="363016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Nearby streets absorb just 43% — 14% in Kentron, 0% in Komitas.</a:t>
            </a:r>
          </a:p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The rest needs off-street capacity that is still gated, counted as if already open.</a:t>
            </a:r>
          </a:p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So: open and manage the yards BEFORE removing kerb.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" y="4407408"/>
            <a:ext cx="8705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1">
                <a:solidFill>
                  <a:srgbClr val="666666"/>
                </a:solidFill>
                <a:latin typeface="Calibri"/>
              </a:rPr>
              <a:t>Surveyed areas only — a subset of the corridor-wide 5,953 removals.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rIns="0" t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Mitigation packages by sensitivity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Recalibrated by the survey: Komitas moves up to high sensitivity; Gai Avenue is handled as an exception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2</a:t>
            </a:fld>
          </a:p>
        </p:txBody>
      </p:sp>
      <p:sp>
        <p:nvSpPr>
          <p:cNvPr id="7" name="Rectangle 6"/>
          <p:cNvSpPr/>
          <p:nvPr/>
        </p:nvSpPr>
        <p:spPr>
          <a:xfrm>
            <a:off x="219456" y="1417320"/>
            <a:ext cx="2779775" cy="2212848"/>
          </a:xfrm>
          <a:prstGeom prst="rect">
            <a:avLst/>
          </a:prstGeom>
          <a:solidFill>
            <a:srgbClr val="FCEBEB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" y="1417320"/>
            <a:ext cx="2779775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HIGH SENSITIVITY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Kentron CBD · 138% peak · 14% absorbed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Komitas · 123% peak · 0% absorbed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moved up from medium by the survey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Extend paid zones — lead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Open residential yards — precondition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Delivery spaces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Resident permits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791F1F"/>
                </a:solidFill>
                <a:latin typeface="Calibri"/>
              </a:rPr>
              <a:t>•  Visitor caps — contingency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1" y="1417320"/>
            <a:ext cx="2779775" cy="2212848"/>
          </a:xfrm>
          <a:prstGeom prst="rect">
            <a:avLst/>
          </a:prstGeom>
          <a:solidFill>
            <a:srgbClr val="FAEED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1" y="1417320"/>
            <a:ext cx="2779775" cy="41148"/>
          </a:xfrm>
          <a:prstGeom prst="rect">
            <a:avLst/>
          </a:prstGeom>
          <a:solidFill>
            <a:srgbClr val="6338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39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33806"/>
                </a:solidFill>
                <a:latin typeface="Calibri"/>
              </a:rPr>
              <a:t>MEDIUM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Arshakunyats · Kievyan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Substantial pressure, but more nearby capacity than the core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orderly redistribution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Extend paid zones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Delivery spaces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633806"/>
                </a:solidFill>
                <a:latin typeface="Calibri"/>
              </a:rPr>
              <a:t>•  Park &amp; ride where relevant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1417320"/>
            <a:ext cx="2779775" cy="2212848"/>
          </a:xfrm>
          <a:prstGeom prst="rect">
            <a:avLst/>
          </a:prstGeom>
          <a:solidFill>
            <a:srgbClr val="E1F5EE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1417320"/>
            <a:ext cx="2779775" cy="41148"/>
          </a:xfrm>
          <a:prstGeom prst="rect">
            <a:avLst/>
          </a:prstGeom>
          <a:solidFill>
            <a:srgbClr val="085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4496" y="1545336"/>
            <a:ext cx="2560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85041"/>
                </a:solidFill>
                <a:latin typeface="Calibri"/>
              </a:rPr>
              <a:t>LOWER SENSITIVITY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178308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Shiraz 75% · Malatia-Sebastia 54% peak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Bagratunyats, Sebastia, Raffi, Nor Nork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1F1F1F"/>
                </a:solidFill>
                <a:latin typeface="Calibri"/>
              </a:rPr>
              <a:t>— structure before 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551176"/>
            <a:ext cx="2560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Organise free parking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Park &amp; ride</a:t>
            </a:r>
          </a:p>
          <a:p>
            <a:pPr algn="l">
              <a:spcAft>
                <a:spcPts val="500"/>
              </a:spcAft>
            </a:pPr>
            <a:r>
              <a:rPr sz="850" b="0" i="0">
                <a:solidFill>
                  <a:srgbClr val="085041"/>
                </a:solidFill>
                <a:latin typeface="Calibri"/>
              </a:rPr>
              <a:t>•  Open residential yards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" y="3767328"/>
            <a:ext cx="8705088" cy="676656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9456" y="3767328"/>
            <a:ext cx="8705088" cy="41148"/>
          </a:xfrm>
          <a:prstGeom prst="rect">
            <a:avLst/>
          </a:prstGeom>
          <a:solidFill>
            <a:srgbClr val="79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3913632"/>
            <a:ext cx="8485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91F1F"/>
                </a:solidFill>
                <a:latin typeface="Calibri"/>
              </a:rPr>
              <a:t>Exception  —  Gai Avenue (Mega Mall)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4187952"/>
            <a:ext cx="84856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•  123% peak. Even filling every nearby yard leaves demand unaccommodated (89% best case) — so the kerb parking stays for now, to be revisited as the area changes.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1161</TotalTime>
  <Words>310</Words>
  <Application>Microsoft Office PowerPoint</Application>
  <PresentationFormat>On-screen Show (16:9)</PresentationFormat>
  <Paragraphs>86</Paragraphs>
  <Slides>10</Slides>
  <Notes>4</Notes>
  <HiddenSlides>2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  <vt:lpstr>Contents</vt:lpstr>
      <vt:lpstr>PowerPoint Presentation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Priscila Damasio</cp:lastModifiedBy>
  <cp:revision>1</cp:revision>
  <dcterms:created xsi:type="dcterms:W3CDTF">2021-02-26T09:11:37Z</dcterms:created>
  <dcterms:modified xsi:type="dcterms:W3CDTF">2026-07-14T21:08:23Z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